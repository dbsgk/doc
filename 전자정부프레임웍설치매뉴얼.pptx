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76" r:id="rId2"/>
    <p:sldId id="277" r:id="rId3"/>
    <p:sldId id="278" r:id="rId4"/>
    <p:sldId id="274" r:id="rId5"/>
    <p:sldId id="279" r:id="rId6"/>
    <p:sldId id="280" r:id="rId7"/>
    <p:sldId id="285" r:id="rId8"/>
    <p:sldId id="281" r:id="rId9"/>
    <p:sldId id="282" r:id="rId10"/>
    <p:sldId id="283" r:id="rId11"/>
    <p:sldId id="284" r:id="rId12"/>
    <p:sldId id="286" r:id="rId13"/>
    <p:sldId id="296" r:id="rId14"/>
    <p:sldId id="289" r:id="rId15"/>
    <p:sldId id="290" r:id="rId16"/>
    <p:sldId id="291" r:id="rId17"/>
    <p:sldId id="292" r:id="rId18"/>
    <p:sldId id="295" r:id="rId19"/>
    <p:sldId id="297" r:id="rId20"/>
    <p:sldId id="299" r:id="rId21"/>
    <p:sldId id="298" r:id="rId22"/>
    <p:sldId id="300" r:id="rId23"/>
    <p:sldId id="275" r:id="rId24"/>
    <p:sldId id="257" r:id="rId25"/>
    <p:sldId id="301" r:id="rId26"/>
    <p:sldId id="302" r:id="rId27"/>
    <p:sldId id="303" r:id="rId28"/>
    <p:sldId id="304" r:id="rId29"/>
    <p:sldId id="308" r:id="rId30"/>
    <p:sldId id="305" r:id="rId31"/>
    <p:sldId id="306" r:id="rId32"/>
    <p:sldId id="307" r:id="rId33"/>
    <p:sldId id="310" r:id="rId34"/>
    <p:sldId id="309" r:id="rId35"/>
    <p:sldId id="311" r:id="rId3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515" autoAdjust="0"/>
    <p:restoredTop sz="94660"/>
  </p:normalViewPr>
  <p:slideViewPr>
    <p:cSldViewPr>
      <p:cViewPr>
        <p:scale>
          <a:sx n="125" d="100"/>
          <a:sy n="125" d="100"/>
        </p:scale>
        <p:origin x="-59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6500C-B0E4-4517-88C4-5D5E350D58F5}" type="datetimeFigureOut">
              <a:rPr lang="ko-KR" altLang="en-US" smtClean="0"/>
              <a:pPr/>
              <a:t>2015-02-02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7D77F-566E-455E-8522-90EF0B5D8D6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013043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7D77F-566E-455E-8522-90EF0B5D8D69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50554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3164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DE5C-8528-4586-A1F8-DE117EA82813}" type="datetimeFigureOut">
              <a:rPr lang="ko-KR" altLang="en-US" smtClean="0"/>
              <a:pPr/>
              <a:t>2015-02-02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0409-CE64-4C86-955D-CCC217AE3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94275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DE5C-8528-4586-A1F8-DE117EA82813}" type="datetimeFigureOut">
              <a:rPr lang="ko-KR" altLang="en-US" smtClean="0"/>
              <a:pPr/>
              <a:t>2015-02-02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0409-CE64-4C86-955D-CCC217AE3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229322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DE5C-8528-4586-A1F8-DE117EA82813}" type="datetimeFigureOut">
              <a:rPr lang="ko-KR" altLang="en-US" smtClean="0"/>
              <a:pPr/>
              <a:t>2015-02-02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0409-CE64-4C86-955D-CCC217AE3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675505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DE5C-8528-4586-A1F8-DE117EA82813}" type="datetimeFigureOut">
              <a:rPr lang="ko-KR" altLang="en-US" smtClean="0"/>
              <a:pPr/>
              <a:t>2015-02-02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0409-CE64-4C86-955D-CCC217AE3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491134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DE5C-8528-4586-A1F8-DE117EA82813}" type="datetimeFigureOut">
              <a:rPr lang="ko-KR" altLang="en-US" smtClean="0"/>
              <a:pPr/>
              <a:t>2015-02-02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0409-CE64-4C86-955D-CCC217AE3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5582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DE5C-8528-4586-A1F8-DE117EA82813}" type="datetimeFigureOut">
              <a:rPr lang="ko-KR" altLang="en-US" smtClean="0"/>
              <a:pPr/>
              <a:t>2015-02-02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0409-CE64-4C86-955D-CCC217AE3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522042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DE5C-8528-4586-A1F8-DE117EA82813}" type="datetimeFigureOut">
              <a:rPr lang="ko-KR" altLang="en-US" smtClean="0"/>
              <a:pPr/>
              <a:t>2015-02-02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0409-CE64-4C86-955D-CCC217AE3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29498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DE5C-8528-4586-A1F8-DE117EA82813}" type="datetimeFigureOut">
              <a:rPr lang="ko-KR" altLang="en-US" smtClean="0"/>
              <a:pPr/>
              <a:t>2015-02-02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0409-CE64-4C86-955D-CCC217AE3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905050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DE5C-8528-4586-A1F8-DE117EA82813}" type="datetimeFigureOut">
              <a:rPr lang="ko-KR" altLang="en-US" smtClean="0"/>
              <a:pPr/>
              <a:t>2015-02-02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0409-CE64-4C86-955D-CCC217AE3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085378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DE5C-8528-4586-A1F8-DE117EA82813}" type="datetimeFigureOut">
              <a:rPr lang="ko-KR" altLang="en-US" smtClean="0"/>
              <a:pPr/>
              <a:t>2015-02-02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0409-CE64-4C86-955D-CCC217AE3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352308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3DE5C-8528-4586-A1F8-DE117EA82813}" type="datetimeFigureOut">
              <a:rPr lang="ko-KR" altLang="en-US" smtClean="0"/>
              <a:pPr/>
              <a:t>2015-02-02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70409-CE64-4C86-955D-CCC217AE3E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718406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3DE5C-8528-4586-A1F8-DE117EA82813}" type="datetimeFigureOut">
              <a:rPr lang="ko-KR" altLang="en-US" smtClean="0"/>
              <a:pPr/>
              <a:t>2015-02-02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70409-CE64-4C86-955D-CCC217AE3EB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06387" y="37957"/>
            <a:ext cx="2911971" cy="73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 userDrawn="1"/>
        </p:nvSpPr>
        <p:spPr>
          <a:xfrm>
            <a:off x="6804248" y="643417"/>
            <a:ext cx="4680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Arial Black" pitchFamily="34" charset="0"/>
              </a:rPr>
              <a:t>Step</a:t>
            </a:r>
            <a:r>
              <a:rPr lang="en-US" altLang="ko-KR" sz="1200" baseline="0" dirty="0" smtClean="0">
                <a:latin typeface="Arial Black" pitchFamily="34" charset="0"/>
              </a:rPr>
              <a:t> By Step Guide install</a:t>
            </a:r>
            <a:endParaRPr lang="ko-KR" altLang="en-US" sz="1200" dirty="0">
              <a:latin typeface="Arial Black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63888" y="3717032"/>
            <a:ext cx="5482657" cy="3028726"/>
          </a:xfrm>
          <a:prstGeom prst="rect">
            <a:avLst/>
          </a:prstGeom>
          <a:solidFill>
            <a:schemeClr val="accent1">
              <a:alpha val="28000"/>
            </a:scheme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xmlns="" val="1725238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hyperlink" Target="http://www.egovframe.org/wiki/lib/exe/detail.php?id=egovframework:dev2:clntinstall&amp;media=egovframework:dev2:install_perspective.jp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www.egovframe.org/wiki/lib/exe/detail.php?id=egovframework:dev2:clntinstall&amp;media=egovframework:dev2:imp:editor:ide:4th_new_web.pn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www.egovframe.org/wiki/lib/exe/detail.php?id=egovframework:dev2:clntinstall&amp;media=egovframework:dev2:imp:editor:ide:4th_web_example.png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govframe.org/wiki/lib/exe/detail.php?id=egovframework:dev2:clntinstall&amp;media=egovframework:dev2:install-newsvr.jp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hyperlink" Target="http://www.egovframe.org/wiki/lib/exe/detail.php?id=egovframework:dev2:clntinstall&amp;media=egovframework:dev2:install_tomcatsvr.jpg" TargetMode="Externa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govframe.org/wiki/lib/exe/detail.php?id=egovframework:dev2:imp:dbio_editor:hsqldb_guide&amp;media=egovframework:dev2:imp:editor:hsql_03.png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://www.egovframe.org/wiki/lib/exe/detail.php?id=egovframework:dev2:imp:dbio_editor:hsqldb_guide&amp;media=egovframework:dev2:imp:editor:hsql_04.pn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hyperlink" Target="http://www.egovframe.org/wiki/lib/exe/detail.php?id=egovframework:dev2:imp:dbio_editor:hsqldb_guide&amp;media=egovframework:dev2:imp:editor:hsql_05.png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://www.egovframe.org/wiki/lib/exe/detail.php?id=egovframework:dev2:imp:dbio_editor:hsqldb_guide&amp;media=egovframework:dev2:imp:editor:hsql_06.pn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hyperlink" Target="http://www.egovframe.org/wiki/lib/exe/detail.php?id=egovframework:dev2:imp:dbio_editor:hsqldb_guide&amp;media=egovframework:dev2:imp:editor:hsql_08.png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://www.egovframe.org/wiki/lib/exe/detail.php?id=egovframework:dev2:imp:dbio_editor:hsqldb_guide&amp;media=egovframework:dev2:imp:editor:hsql_09.pn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hyperlink" Target="http://www.egovframe.org/wiki/lib/exe/detail.php?id=egovframework:dev2:clntinstall&amp;media=egovframework:dev2:basicsample.jpg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hyperlink" Target="http://www.egovframe.org/wiki/lib/exe/detail.php?id=egovframework:dev2:clntinstall&amp;media=egovframework:dev2:sqlmapconf.jp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hyperlink" Target="http://www.egovframe.org/wiki/lib/exe/detail.php?id=egovframework:dev2:clntinstall&amp;media=egovframework:dev2:contextds.jpg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hyperlink" Target="http://www.egovframe.org/wiki/lib/exe/detail.php?id=egovframework:dev2:clntinstall&amp;media=egovframework:dev2:dependency.jp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eg"/><Relationship Id="rId4" Type="http://schemas.openxmlformats.org/officeDocument/2006/relationships/hyperlink" Target="http://www.egovframe.org/wiki/lib/exe/detail.php?id=egovframework:dev2:clntinstall&amp;media=egovframework:dev2:maveninstall.jpg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://www.egovframe.org/wiki/lib/exe/detail.php?id=egovframework:dev2:imp:editor:customize_development_tool&amp;media=egovframework:dev2:imp:editor:ide:select_custom_menu.pn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hyperlink" Target="http://www.egovframe.org/wiki/lib/exe/detail.php?id=egovframework:dev2:imp:editor:customize_development_tool&amp;media=egovframework:dev2:imp:editor:ide:custom_list.png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://www.egovframe.org/wiki/lib/exe/fetch.php?media=egovframework:dev:mavenrepository_2.0.zi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://www.egovframe.org/wiki/lib/exe/detail.php?id=egovframework:dev:gettingstarted&amp;media=egovframework:dev:%ED%94%84%EB%A1%9C%EC%A0%9D%ED%8A%B8_%EB%B0%98%EC%9E%85.png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://www.egovframe.org/wiki/lib/exe/detail.php?id=egovframework:dev:gettingstarted&amp;media=egovframework:dev:%ED%94%84%EB%A1%9C%EC%A0%9D%ED%8A%B8_%EB%B0%98%EC%9E%85_1.p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://www.egovframe.org/wiki/lib/exe/detail.php?id=egovframework:dev:gettingstarted&amp;media=egovframework:dev:%EB%A9%94%EC%9D%B4%EB%B8%90_%EB%B9%8C%EB%93%9C_%EC%88%98%ED%96%892.p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://www.egovframe.org/wiki/lib/exe/detail.php?id=egovframework:dev:gettingstarted&amp;media=egovframework:dev:junit_%ED%85%8C%EC%8A%A4%ED%8A%B8_%EA%B2%B0%EA%B3%BC.png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908765" y="4615968"/>
            <a:ext cx="12121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   6</a:t>
            </a:r>
            <a:r>
              <a:rPr lang="ko-KR" altLang="en-US" dirty="0" smtClean="0"/>
              <a:t>조 </a:t>
            </a:r>
            <a:endParaRPr lang="en-US" altLang="ko-KR" dirty="0" smtClean="0"/>
          </a:p>
          <a:p>
            <a:r>
              <a:rPr lang="en-US" altLang="ko-KR" dirty="0" smtClean="0"/>
              <a:t>08 </a:t>
            </a:r>
            <a:r>
              <a:rPr lang="ko-KR" altLang="en-US" dirty="0" smtClean="0"/>
              <a:t>이대우</a:t>
            </a:r>
            <a:endParaRPr lang="en-US" altLang="ko-KR" dirty="0" smtClean="0"/>
          </a:p>
          <a:p>
            <a:r>
              <a:rPr lang="en-US" altLang="ko-KR" dirty="0" smtClean="0"/>
              <a:t>08 </a:t>
            </a:r>
            <a:r>
              <a:rPr lang="ko-KR" altLang="en-US" dirty="0" smtClean="0"/>
              <a:t>홍정무</a:t>
            </a:r>
            <a:endParaRPr lang="en-US" altLang="ko-KR" dirty="0" smtClean="0"/>
          </a:p>
          <a:p>
            <a:r>
              <a:rPr lang="en-US" altLang="ko-KR" dirty="0" smtClean="0"/>
              <a:t>11 </a:t>
            </a:r>
            <a:r>
              <a:rPr lang="ko-KR" altLang="en-US" dirty="0"/>
              <a:t>강</a:t>
            </a:r>
            <a:r>
              <a:rPr lang="ko-KR" altLang="en-US" dirty="0" smtClean="0"/>
              <a:t>성민</a:t>
            </a:r>
            <a:endParaRPr lang="en-US" altLang="ko-KR" dirty="0" smtClean="0"/>
          </a:p>
          <a:p>
            <a:r>
              <a:rPr lang="en-US" altLang="ko-KR" dirty="0" smtClean="0"/>
              <a:t>11 </a:t>
            </a:r>
            <a:r>
              <a:rPr lang="ko-KR" altLang="en-US" dirty="0" smtClean="0"/>
              <a:t>김혜지</a:t>
            </a:r>
            <a:endParaRPr lang="ko-KR" altLang="en-US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36512" y="3717032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547664" y="1908121"/>
            <a:ext cx="63626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 smtClean="0"/>
              <a:t>전자정부 프레임워크 설치 </a:t>
            </a:r>
            <a:r>
              <a:rPr lang="ko-KR" altLang="en-US" sz="3200" b="1" dirty="0"/>
              <a:t>매</a:t>
            </a:r>
            <a:r>
              <a:rPr lang="ko-KR" altLang="en-US" sz="3200" b="1" dirty="0" smtClean="0"/>
              <a:t>뉴얼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xmlns="" val="824824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71" y="2132856"/>
            <a:ext cx="284885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개발환경 설치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2.  </a:t>
            </a:r>
            <a:r>
              <a:rPr lang="ko-KR" altLang="en-US" dirty="0" smtClean="0"/>
              <a:t>프로젝트 생성 및 실행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3. Hello world </a:t>
            </a:r>
            <a:r>
              <a:rPr lang="ko-KR" altLang="en-US" dirty="0" smtClean="0"/>
              <a:t>실행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43608" y="1058833"/>
            <a:ext cx="17557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/>
              <a:t>INDEX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xmlns="" val="266942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>
            <a:off x="36512" y="3717032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2291092" y="2060847"/>
            <a:ext cx="472918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600" b="1" dirty="0" smtClean="0"/>
              <a:t>STEP1. </a:t>
            </a:r>
            <a:r>
              <a:rPr lang="ko-KR" altLang="en-US" sz="3600" b="1" dirty="0" smtClean="0"/>
              <a:t>개발환경 설치</a:t>
            </a:r>
            <a:endParaRPr lang="en-US" altLang="ko-KR" sz="3600" b="1" dirty="0" smtClean="0"/>
          </a:p>
          <a:p>
            <a:r>
              <a:rPr lang="en-US" altLang="ko-KR" sz="2400" b="1" dirty="0" smtClean="0"/>
              <a:t>          -(</a:t>
            </a:r>
            <a:r>
              <a:rPr lang="ko-KR" altLang="en-US" sz="2400" b="1" dirty="0" smtClean="0"/>
              <a:t>기본개발환경</a:t>
            </a:r>
            <a:r>
              <a:rPr lang="en-US" altLang="ko-KR" sz="2400" b="1" dirty="0" smtClean="0"/>
              <a:t>) </a:t>
            </a:r>
            <a:r>
              <a:rPr lang="ko-KR" altLang="en-US" sz="2400" b="1" dirty="0" smtClean="0"/>
              <a:t>편</a:t>
            </a:r>
            <a:r>
              <a:rPr lang="en-US" altLang="ko-KR" sz="2400" b="1" dirty="0" smtClean="0"/>
              <a:t>-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xmlns="" val="694235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908720"/>
            <a:ext cx="8496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개발환경설치</a:t>
            </a:r>
            <a:endParaRPr lang="en-US" altLang="ko-KR" b="1" dirty="0" smtClean="0"/>
          </a:p>
          <a:p>
            <a:endParaRPr lang="ko-KR" altLang="en-US" b="1" dirty="0" smtClean="0"/>
          </a:p>
          <a:p>
            <a:r>
              <a:rPr lang="en-US" altLang="ko-KR" dirty="0" smtClean="0"/>
              <a:t>1. </a:t>
            </a:r>
            <a:r>
              <a:rPr lang="ko-KR" altLang="en-US" dirty="0" smtClean="0"/>
              <a:t>먼저 </a:t>
            </a:r>
            <a:r>
              <a:rPr lang="en-US" altLang="ko-KR" dirty="0" smtClean="0"/>
              <a:t>eclipse </a:t>
            </a:r>
            <a:r>
              <a:rPr lang="ko-KR" altLang="en-US" dirty="0" smtClean="0"/>
              <a:t>기반의 전자정부표준 프레임워크의 구현도구</a:t>
            </a:r>
            <a:r>
              <a:rPr lang="en-US" altLang="ko-KR" dirty="0" smtClean="0"/>
              <a:t>(implementation tool) </a:t>
            </a:r>
            <a:r>
              <a:rPr lang="ko-KR" altLang="en-US" dirty="0" smtClean="0"/>
              <a:t>설치를 참조하여 설치한다</a:t>
            </a:r>
            <a:r>
              <a:rPr lang="en-US" altLang="ko-KR" dirty="0" smtClean="0"/>
              <a:t>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94953" y="2132856"/>
            <a:ext cx="3330114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107332"/>
            <a:ext cx="3800475" cy="2473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87624" y="4869160"/>
            <a:ext cx="2555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[e-GovFrame2.5 </a:t>
            </a:r>
            <a:r>
              <a:rPr lang="ko-KR" altLang="en-US" b="1" dirty="0" smtClean="0"/>
              <a:t>화면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076056" y="4859868"/>
            <a:ext cx="2557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[Workspace </a:t>
            </a:r>
            <a:r>
              <a:rPr lang="ko-KR" altLang="en-US" b="1" dirty="0" smtClean="0"/>
              <a:t>설정화면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908720"/>
            <a:ext cx="8496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/>
              <a:t>eGovFrame</a:t>
            </a:r>
            <a:r>
              <a:rPr lang="en-US" altLang="ko-KR" b="1" dirty="0" smtClean="0"/>
              <a:t> </a:t>
            </a:r>
            <a:r>
              <a:rPr lang="ko-KR" altLang="en-US" b="1" dirty="0" err="1" smtClean="0"/>
              <a:t>퍼스펙티브</a:t>
            </a:r>
            <a:r>
              <a:rPr lang="en-US" altLang="ko-KR" b="1" dirty="0" smtClean="0"/>
              <a:t>(Perspective)</a:t>
            </a:r>
            <a:r>
              <a:rPr lang="ko-KR" altLang="en-US" b="1" dirty="0" smtClean="0"/>
              <a:t> 전환</a:t>
            </a:r>
            <a:endParaRPr lang="en-US" altLang="ko-KR" b="1" dirty="0" smtClean="0"/>
          </a:p>
          <a:p>
            <a:endParaRPr lang="en-US" altLang="ko-KR" b="1" dirty="0"/>
          </a:p>
          <a:p>
            <a:r>
              <a:rPr lang="ko-KR" altLang="en-US" dirty="0" err="1"/>
              <a:t>퍼스펙티브란</a:t>
            </a:r>
            <a:r>
              <a:rPr lang="en-US" altLang="ko-KR" dirty="0"/>
              <a:t>?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ko-KR" altLang="en-US" dirty="0" smtClean="0"/>
              <a:t>현재 </a:t>
            </a:r>
            <a:r>
              <a:rPr lang="ko-KR" altLang="en-US" dirty="0" err="1" smtClean="0"/>
              <a:t>이클립스</a:t>
            </a:r>
            <a:r>
              <a:rPr lang="ko-KR" altLang="en-US" dirty="0" smtClean="0"/>
              <a:t> 내 다양한 플러그 인을 지원하는 장치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/>
          </a:p>
        </p:txBody>
      </p:sp>
      <p:pic>
        <p:nvPicPr>
          <p:cNvPr id="2050" name="Picture 2" descr="http://cafeptthumb2.phinf.naver.net/20100316_73/choikyusun47_12687103509590onlA_jpg/2_choikyusun47.jpg?type=w74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2487027"/>
            <a:ext cx="1763688" cy="1904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307009"/>
            <a:ext cx="3024336" cy="3714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 descr="http://www.egovframe.org/wiki/lib/exe/fetch.php?media=egovframework:dev2:install_perspective.jpg">
            <a:hlinkClick r:id="rId4" tooltip="egovframework:dev2:install_perspective.jpg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17468" y="2452747"/>
            <a:ext cx="2905125" cy="1228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오른쪽 화살표 1"/>
          <p:cNvSpPr/>
          <p:nvPr/>
        </p:nvSpPr>
        <p:spPr>
          <a:xfrm rot="18943302">
            <a:off x="1633671" y="3633691"/>
            <a:ext cx="792088" cy="36236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른쪽 화살표 8"/>
          <p:cNvSpPr/>
          <p:nvPr/>
        </p:nvSpPr>
        <p:spPr>
          <a:xfrm>
            <a:off x="5225380" y="3098950"/>
            <a:ext cx="792088" cy="36236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/>
          <p:cNvCxnSpPr/>
          <p:nvPr/>
        </p:nvCxnSpPr>
        <p:spPr>
          <a:xfrm>
            <a:off x="7092280" y="3098950"/>
            <a:ext cx="86409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906323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www.egovframe.org/wiki/lib/exe/fetch.php?media=egovframework:dev2:imp:editor:ide:4th_new_web.png">
            <a:hlinkClick r:id="rId2" tooltip="egovframework:dev2:imp:editor:ide:4th_new_web.png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5471" y="1988840"/>
            <a:ext cx="5000625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323528" y="993502"/>
            <a:ext cx="80580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메뉴 표시줄에서 </a:t>
            </a:r>
            <a:r>
              <a:rPr lang="en-US" altLang="ko-KR" b="1" dirty="0"/>
              <a:t>File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en-US" altLang="ko-KR" b="1" dirty="0"/>
              <a:t>New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en-US" altLang="ko-KR" b="1" dirty="0" err="1"/>
              <a:t>eGovFrame</a:t>
            </a:r>
            <a:r>
              <a:rPr lang="en-US" altLang="ko-KR" b="1" dirty="0"/>
              <a:t> Web Project</a:t>
            </a:r>
            <a:r>
              <a:rPr lang="ko-KR" altLang="en-US" dirty="0"/>
              <a:t>를 선택한다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또는</a:t>
            </a:r>
            <a:r>
              <a:rPr lang="en-US" altLang="ko-KR" dirty="0"/>
              <a:t>, </a:t>
            </a:r>
            <a:r>
              <a:rPr lang="en-US" altLang="ko-KR" b="1" dirty="0" err="1"/>
              <a:t>Ctrl+N</a:t>
            </a:r>
            <a:r>
              <a:rPr lang="ko-KR" altLang="en-US" dirty="0"/>
              <a:t> 단축키를 이용하여 </a:t>
            </a:r>
            <a:r>
              <a:rPr lang="ko-KR" altLang="en-US" dirty="0" err="1"/>
              <a:t>새로작성</a:t>
            </a:r>
            <a:r>
              <a:rPr lang="ko-KR" altLang="en-US" dirty="0"/>
              <a:t> 마법사를 실행한 후 </a:t>
            </a:r>
            <a:r>
              <a:rPr lang="en-US" altLang="ko-KR" b="1" dirty="0" err="1"/>
              <a:t>eGovFrame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en-US" altLang="ko-KR" b="1" dirty="0" err="1"/>
              <a:t>eGovFrame</a:t>
            </a:r>
            <a:r>
              <a:rPr lang="en-US" altLang="ko-KR" b="1" dirty="0"/>
              <a:t> Web Project</a:t>
            </a:r>
            <a:r>
              <a:rPr lang="ko-KR" altLang="en-US" dirty="0"/>
              <a:t>을 선택하고 </a:t>
            </a:r>
            <a:r>
              <a:rPr lang="en-US" altLang="ko-KR" b="1" dirty="0"/>
              <a:t>Next</a:t>
            </a:r>
            <a:r>
              <a:rPr lang="ko-KR" altLang="en-US" dirty="0"/>
              <a:t>를 클릭한다</a:t>
            </a:r>
          </a:p>
        </p:txBody>
      </p:sp>
    </p:spTree>
    <p:extLst>
      <p:ext uri="{BB962C8B-B14F-4D97-AF65-F5344CB8AC3E}">
        <p14:creationId xmlns:p14="http://schemas.microsoft.com/office/powerpoint/2010/main" xmlns="" val="1132597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39552" y="993502"/>
            <a:ext cx="79315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프로젝트 명과 </a:t>
            </a:r>
            <a:r>
              <a:rPr lang="en-US" altLang="ko-KR" dirty="0"/>
              <a:t>Maven </a:t>
            </a:r>
            <a:r>
              <a:rPr lang="ko-KR" altLang="en-US" dirty="0"/>
              <a:t>설정에 필요한 값들을 입력하고 </a:t>
            </a:r>
            <a:r>
              <a:rPr lang="en-US" altLang="ko-KR" b="1" dirty="0"/>
              <a:t>Next</a:t>
            </a:r>
            <a:r>
              <a:rPr lang="ko-KR" altLang="en-US" dirty="0"/>
              <a:t>를 클릭한다</a:t>
            </a:r>
            <a:r>
              <a:rPr lang="en-US" altLang="ko-KR" dirty="0"/>
              <a:t>. 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3096" y="1453753"/>
            <a:ext cx="4953000" cy="540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1475656" y="2492896"/>
            <a:ext cx="864096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331640" y="4941168"/>
            <a:ext cx="864096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331640" y="5157192"/>
            <a:ext cx="864096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>
            <a:stCxn id="5" idx="3"/>
          </p:cNvCxnSpPr>
          <p:nvPr/>
        </p:nvCxnSpPr>
        <p:spPr>
          <a:xfrm>
            <a:off x="2339752" y="2600908"/>
            <a:ext cx="216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2195736" y="5085184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2195736" y="5301208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2555776" y="2600908"/>
            <a:ext cx="0" cy="2664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55776" y="341970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설</a:t>
            </a:r>
            <a:r>
              <a:rPr lang="ko-KR" altLang="en-US" dirty="0">
                <a:solidFill>
                  <a:srgbClr val="FF0000"/>
                </a:solidFill>
              </a:rPr>
              <a:t>정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2555776" y="6453336"/>
            <a:ext cx="864096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2555776" y="5265204"/>
            <a:ext cx="432048" cy="11881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562093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://www.egovframe.org/wiki/lib/exe/fetch.php?media=egovframework:dev2:imp:editor:ide:4th_web_example.png">
            <a:hlinkClick r:id="rId2" tooltip="egovframework:dev2:imp:editor:ide:4th_web_example.png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1522808"/>
            <a:ext cx="5000625" cy="536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251520" y="899428"/>
            <a:ext cx="76328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b="1" u="sng" dirty="0"/>
              <a:t>예제 소스 파일 생성 여부를 체크하고 </a:t>
            </a:r>
            <a:r>
              <a:rPr lang="en-US" altLang="ko-KR" sz="1600" b="1" dirty="0"/>
              <a:t>Finish</a:t>
            </a:r>
            <a:r>
              <a:rPr lang="ko-KR" altLang="en-US" sz="1600" dirty="0"/>
              <a:t>를 </a:t>
            </a:r>
            <a:r>
              <a:rPr lang="ko-KR" altLang="en-US" sz="1600" dirty="0" smtClean="0"/>
              <a:t>클릭한다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(</a:t>
            </a:r>
            <a:r>
              <a:rPr lang="ko-KR" altLang="en-US" sz="1600" dirty="0" smtClean="0"/>
              <a:t>체크 안 하면 안의 내용이 안 보인다</a:t>
            </a:r>
            <a:r>
              <a:rPr lang="en-US" altLang="ko-KR" sz="1600" dirty="0" smtClean="0"/>
              <a:t>.)</a:t>
            </a:r>
            <a:endParaRPr lang="ko-KR" altLang="en-US" sz="1600" dirty="0"/>
          </a:p>
        </p:txBody>
      </p:sp>
      <p:sp>
        <p:nvSpPr>
          <p:cNvPr id="7" name="직사각형 6"/>
          <p:cNvSpPr/>
          <p:nvPr/>
        </p:nvSpPr>
        <p:spPr>
          <a:xfrm>
            <a:off x="395536" y="2492896"/>
            <a:ext cx="129614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275856" y="6453336"/>
            <a:ext cx="79208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화살표 연결선 2"/>
          <p:cNvCxnSpPr/>
          <p:nvPr/>
        </p:nvCxnSpPr>
        <p:spPr>
          <a:xfrm>
            <a:off x="1475656" y="2708920"/>
            <a:ext cx="2016224" cy="374441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895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95536" y="1124744"/>
            <a:ext cx="80648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Tomcat </a:t>
            </a:r>
            <a:r>
              <a:rPr lang="ko-KR" altLang="en-US" dirty="0"/>
              <a:t>서버를 설치해 보도록 한다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eclipse </a:t>
            </a:r>
            <a:r>
              <a:rPr lang="ko-KR" altLang="en-US" dirty="0"/>
              <a:t>하단의 </a:t>
            </a:r>
            <a:r>
              <a:rPr lang="en-US" altLang="ko-KR" dirty="0"/>
              <a:t>Servers </a:t>
            </a:r>
            <a:r>
              <a:rPr lang="ko-KR" altLang="en-US" dirty="0"/>
              <a:t>탭을 클릭하고</a:t>
            </a:r>
            <a:r>
              <a:rPr lang="en-US" altLang="ko-KR" dirty="0"/>
              <a:t>, </a:t>
            </a:r>
            <a:r>
              <a:rPr lang="ko-KR" altLang="en-US" dirty="0"/>
              <a:t>마우스 </a:t>
            </a:r>
            <a:r>
              <a:rPr lang="ko-KR" altLang="en-US" dirty="0" err="1"/>
              <a:t>우클릭하여</a:t>
            </a:r>
            <a:r>
              <a:rPr lang="ko-KR" altLang="en-US" dirty="0"/>
              <a:t> “</a:t>
            </a:r>
            <a:r>
              <a:rPr lang="en-US" altLang="ko-KR" dirty="0"/>
              <a:t>Ne</a:t>
            </a:r>
            <a:r>
              <a:rPr lang="en-US" altLang="ko-KR" i="1" dirty="0"/>
              <a:t>w</a:t>
            </a:r>
            <a:r>
              <a:rPr lang="ko-KR" altLang="en-US" dirty="0"/>
              <a:t> </a:t>
            </a:r>
            <a:r>
              <a:rPr lang="en-US" altLang="ko-KR" dirty="0"/>
              <a:t>&gt; Server”</a:t>
            </a:r>
            <a:r>
              <a:rPr lang="ko-KR" altLang="en-US" dirty="0"/>
              <a:t>를 선택한다</a:t>
            </a:r>
            <a:r>
              <a:rPr lang="en-US" altLang="ko-KR" dirty="0"/>
              <a:t>. </a:t>
            </a:r>
            <a:br>
              <a:rPr lang="en-US" altLang="ko-KR" dirty="0"/>
            </a:b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88840"/>
            <a:ext cx="9144000" cy="486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7624" y="6381328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오른쪽 버튼 클릭</a:t>
            </a:r>
            <a:r>
              <a:rPr lang="en-US" altLang="ko-KR" dirty="0" smtClean="0"/>
              <a:t>!!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3419872" y="3717032"/>
            <a:ext cx="648072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6300192" y="3717032"/>
            <a:ext cx="648072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624898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3424" y="705470"/>
            <a:ext cx="62316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Apache &gt; Tomcat v6.0 Server</a:t>
            </a:r>
            <a:r>
              <a:rPr lang="ko-KR" altLang="en-US" dirty="0"/>
              <a:t>를 선택 후 </a:t>
            </a:r>
            <a:r>
              <a:rPr lang="en-US" altLang="ko-KR" dirty="0"/>
              <a:t>Next</a:t>
            </a:r>
            <a:r>
              <a:rPr lang="ko-KR" altLang="en-US" dirty="0"/>
              <a:t>를 클릭하고 </a:t>
            </a:r>
            <a:r>
              <a:rPr lang="en-US" altLang="ko-KR" dirty="0"/>
              <a:t>Download and Install </a:t>
            </a:r>
            <a:r>
              <a:rPr lang="ko-KR" altLang="en-US" dirty="0"/>
              <a:t>버튼을 클릭하여 서버 설치를 </a:t>
            </a:r>
            <a:r>
              <a:rPr lang="ko-KR" altLang="en-US" dirty="0" smtClean="0"/>
              <a:t>완료한다</a:t>
            </a:r>
            <a:r>
              <a:rPr lang="en-US" altLang="ko-KR" dirty="0" smtClean="0"/>
              <a:t>.(INSTALL directory</a:t>
            </a:r>
            <a:r>
              <a:rPr lang="ko-KR" altLang="en-US" dirty="0" smtClean="0"/>
              <a:t>는 어디든 상관이 없다</a:t>
            </a:r>
            <a:r>
              <a:rPr lang="en-US" altLang="ko-KR" dirty="0" smtClean="0"/>
              <a:t>.)</a:t>
            </a:r>
            <a:endParaRPr lang="ko-KR" altLang="en-US" dirty="0"/>
          </a:p>
        </p:txBody>
      </p:sp>
      <p:pic>
        <p:nvPicPr>
          <p:cNvPr id="6146" name="Picture 2" descr="http://www.egovframe.org/wiki/lib/exe/fetch.php?media=egovframework:dev2:install-newsvr.jpg">
            <a:hlinkClick r:id="rId3" tooltip="egovframework:dev2:install-newsvr.jpg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1724025"/>
            <a:ext cx="4464496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://www.egovframe.org/wiki/lib/exe/fetch.php?media=egovframework:dev2:install_tomcatsvr.jpg">
            <a:hlinkClick r:id="rId5" tooltip="egovframework:dev2:install_tomcatsvr.jpg"/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724024"/>
            <a:ext cx="3997052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2015716" y="6525344"/>
            <a:ext cx="75608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39552" y="4291012"/>
            <a:ext cx="1224136" cy="146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7740352" y="3284984"/>
            <a:ext cx="1224136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1151620" y="4437112"/>
            <a:ext cx="1188132" cy="20376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455327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400" y="1052736"/>
            <a:ext cx="9118600" cy="5805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1835696" y="4581128"/>
            <a:ext cx="352839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644008" y="2924944"/>
            <a:ext cx="37133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우클릭</a:t>
            </a:r>
            <a:r>
              <a:rPr lang="ko-KR" altLang="en-US" dirty="0" smtClean="0"/>
              <a:t> 후 나타나는 메뉴에서</a:t>
            </a:r>
            <a:endParaRPr lang="en-US" altLang="ko-KR" dirty="0" smtClean="0"/>
          </a:p>
          <a:p>
            <a:r>
              <a:rPr lang="en-US" altLang="ko-KR" dirty="0" smtClean="0"/>
              <a:t>Run As-&gt; 1.Run on Server</a:t>
            </a:r>
            <a:r>
              <a:rPr lang="ko-KR" altLang="en-US" dirty="0" smtClean="0"/>
              <a:t>를 선</a:t>
            </a:r>
            <a:r>
              <a:rPr lang="ko-KR" altLang="en-US" dirty="0"/>
              <a:t>택</a:t>
            </a:r>
          </a:p>
        </p:txBody>
      </p:sp>
    </p:spTree>
    <p:extLst>
      <p:ext uri="{BB962C8B-B14F-4D97-AF65-F5344CB8AC3E}">
        <p14:creationId xmlns:p14="http://schemas.microsoft.com/office/powerpoint/2010/main" xmlns="" val="118331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127178" y="1052736"/>
            <a:ext cx="3813479" cy="5616624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5" y="1052736"/>
            <a:ext cx="4176464" cy="5616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1907703" y="6381328"/>
            <a:ext cx="720081" cy="1569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364088" y="2348880"/>
            <a:ext cx="10695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 smtClean="0">
                <a:solidFill>
                  <a:schemeClr val="bg1">
                    <a:lumMod val="65000"/>
                  </a:schemeClr>
                </a:solidFill>
              </a:rPr>
              <a:t>AnalysisofMIS</a:t>
            </a:r>
            <a:endParaRPr lang="en-US" altLang="ko-KR" sz="1100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655875" y="2492896"/>
            <a:ext cx="75608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6433612" y="2492896"/>
            <a:ext cx="1234732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7416316" y="6237312"/>
            <a:ext cx="75608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5436096" y="3152001"/>
            <a:ext cx="3227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왼쪽에 나타난 가능한 서버를 오른쪽에 추가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xmlns="" val="2964743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0402" y="1400572"/>
            <a:ext cx="401955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34511" y="593636"/>
            <a:ext cx="3113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 smtClean="0"/>
              <a:t>What the hell!!</a:t>
            </a:r>
            <a:endParaRPr lang="ko-KR" altLang="en-US" sz="3200" b="1" dirty="0"/>
          </a:p>
        </p:txBody>
      </p:sp>
      <p:cxnSp>
        <p:nvCxnSpPr>
          <p:cNvPr id="7" name="구부러진 연결선 6"/>
          <p:cNvCxnSpPr>
            <a:stCxn id="12290" idx="3"/>
          </p:cNvCxnSpPr>
          <p:nvPr/>
        </p:nvCxnSpPr>
        <p:spPr>
          <a:xfrm>
            <a:off x="4139952" y="1838722"/>
            <a:ext cx="1296144" cy="870198"/>
          </a:xfrm>
          <a:prstGeom prst="curvedConnector3">
            <a:avLst>
              <a:gd name="adj1" fmla="val 1766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060848"/>
            <a:ext cx="3707904" cy="4138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5541248" y="5250686"/>
            <a:ext cx="37112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C:\</a:t>
            </a:r>
            <a:r>
              <a:rPr lang="en-US" altLang="ko-KR" sz="800" dirty="0" smtClean="0">
                <a:solidFill>
                  <a:srgbClr val="FF0000"/>
                </a:solidFill>
              </a:rPr>
              <a:t>eGovFrameDev-2.5.0-FullVer\workspace\AnalysisofMIS\DATABASE\db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5508104" y="4921423"/>
            <a:ext cx="37039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 dirty="0">
                <a:solidFill>
                  <a:srgbClr val="FF0000"/>
                </a:solidFill>
              </a:rPr>
              <a:t>해당 </a:t>
            </a:r>
            <a:r>
              <a:rPr lang="en-US" altLang="ko-KR" sz="1400" b="1" dirty="0">
                <a:solidFill>
                  <a:srgbClr val="FF0000"/>
                </a:solidFill>
              </a:rPr>
              <a:t>web project</a:t>
            </a:r>
            <a:r>
              <a:rPr lang="ko-KR" altLang="en-US" sz="1400" b="1" dirty="0">
                <a:solidFill>
                  <a:srgbClr val="FF0000"/>
                </a:solidFill>
              </a:rPr>
              <a:t>가 있는 </a:t>
            </a:r>
            <a:r>
              <a:rPr lang="en-US" altLang="ko-KR" sz="1400" b="1" dirty="0">
                <a:solidFill>
                  <a:srgbClr val="FF0000"/>
                </a:solidFill>
              </a:rPr>
              <a:t>directory</a:t>
            </a:r>
            <a:r>
              <a:rPr lang="ko-KR" altLang="en-US" sz="1400" b="1" dirty="0">
                <a:solidFill>
                  <a:srgbClr val="FF0000"/>
                </a:solidFill>
              </a:rPr>
              <a:t>로 간다</a:t>
            </a:r>
            <a:r>
              <a:rPr lang="en-US" altLang="ko-KR" sz="1400" b="1" dirty="0">
                <a:solidFill>
                  <a:srgbClr val="FF0000"/>
                </a:solidFill>
              </a:rPr>
              <a:t>.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4400" y="4221088"/>
            <a:ext cx="4269153" cy="2753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구부러진 연결선 14"/>
          <p:cNvCxnSpPr>
            <a:stCxn id="11" idx="1"/>
          </p:cNvCxnSpPr>
          <p:nvPr/>
        </p:nvCxnSpPr>
        <p:spPr>
          <a:xfrm rot="10800000" flipV="1">
            <a:off x="4427984" y="4130279"/>
            <a:ext cx="1008112" cy="945031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147957" y="3798912"/>
            <a:ext cx="27034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</a:rPr>
              <a:t>runHsqlDB.cmd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를 실행시킨다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.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33180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22807" y="0"/>
            <a:ext cx="4666815" cy="6863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 descr="http://www.egovframe.org/wiki/lib/exe/fetch.php?media=egovframework:dev2:imp:editor:hsql_03.png">
            <a:hlinkClick r:id="rId3" tooltip="egovframework:dev2:imp:editor:hsql_03.png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484784"/>
            <a:ext cx="4211960" cy="5373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179512" y="2670324"/>
            <a:ext cx="3802644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100" dirty="0" err="1" smtClean="0">
                <a:solidFill>
                  <a:srgbClr val="FF0000"/>
                </a:solidFill>
              </a:rPr>
              <a:t>eGovFrame</a:t>
            </a:r>
            <a:r>
              <a:rPr lang="ko-KR" altLang="en-US" sz="1100" dirty="0" smtClean="0">
                <a:solidFill>
                  <a:srgbClr val="FF0000"/>
                </a:solidFill>
              </a:rPr>
              <a:t>으로 돌아와 </a:t>
            </a:r>
            <a:r>
              <a:rPr lang="en-US" altLang="ko-KR" sz="1100" dirty="0" smtClean="0">
                <a:solidFill>
                  <a:srgbClr val="FF0000"/>
                </a:solidFill>
              </a:rPr>
              <a:t>Data Source Expect</a:t>
            </a:r>
            <a:r>
              <a:rPr lang="ko-KR" altLang="en-US" sz="1100" dirty="0" err="1" smtClean="0">
                <a:solidFill>
                  <a:srgbClr val="FF0000"/>
                </a:solidFill>
              </a:rPr>
              <a:t>란을</a:t>
            </a:r>
            <a:r>
              <a:rPr lang="ko-KR" altLang="en-US" sz="1100" dirty="0" smtClean="0">
                <a:solidFill>
                  <a:srgbClr val="FF0000"/>
                </a:solidFill>
              </a:rPr>
              <a:t> 클릭</a:t>
            </a:r>
            <a:endParaRPr lang="en-US" altLang="ko-KR" sz="1100" dirty="0" smtClean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100" dirty="0" smtClean="0">
                <a:solidFill>
                  <a:srgbClr val="FF0000"/>
                </a:solidFill>
              </a:rPr>
              <a:t>Database Connection</a:t>
            </a:r>
            <a:r>
              <a:rPr lang="ko-KR" altLang="en-US" sz="1100" dirty="0" smtClean="0">
                <a:solidFill>
                  <a:srgbClr val="FF0000"/>
                </a:solidFill>
              </a:rPr>
              <a:t>을 </a:t>
            </a:r>
            <a:r>
              <a:rPr lang="ko-KR" altLang="en-US" sz="1100" dirty="0" err="1" smtClean="0">
                <a:solidFill>
                  <a:srgbClr val="FF0000"/>
                </a:solidFill>
              </a:rPr>
              <a:t>우클릭</a:t>
            </a:r>
            <a:r>
              <a:rPr lang="ko-KR" altLang="en-US" sz="1100" dirty="0" smtClean="0">
                <a:solidFill>
                  <a:srgbClr val="FF0000"/>
                </a:solidFill>
              </a:rPr>
              <a:t> 후 </a:t>
            </a:r>
            <a:r>
              <a:rPr lang="en-US" altLang="ko-KR" sz="1100" dirty="0" smtClean="0">
                <a:solidFill>
                  <a:srgbClr val="FF0000"/>
                </a:solidFill>
              </a:rPr>
              <a:t>New</a:t>
            </a:r>
            <a:r>
              <a:rPr lang="ko-KR" altLang="en-US" sz="1100" dirty="0" smtClean="0">
                <a:solidFill>
                  <a:srgbClr val="FF0000"/>
                </a:solidFill>
              </a:rPr>
              <a:t>를 선택  </a:t>
            </a:r>
            <a:endParaRPr lang="en-US" altLang="ko-KR" sz="1100" dirty="0" smtClean="0">
              <a:solidFill>
                <a:srgbClr val="FF0000"/>
              </a:solidFill>
            </a:endParaRPr>
          </a:p>
          <a:p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940152" y="3871310"/>
            <a:ext cx="220124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</a:rPr>
              <a:t>HSOLDB</a:t>
            </a:r>
            <a:r>
              <a:rPr lang="ko-KR" altLang="en-US" sz="1100" dirty="0" smtClean="0">
                <a:solidFill>
                  <a:srgbClr val="FF0000"/>
                </a:solidFill>
              </a:rPr>
              <a:t>를 </a:t>
            </a:r>
            <a:r>
              <a:rPr lang="ko-KR" altLang="en-US" sz="1100" dirty="0" err="1" smtClean="0">
                <a:solidFill>
                  <a:srgbClr val="FF0000"/>
                </a:solidFill>
              </a:rPr>
              <a:t>선택후</a:t>
            </a:r>
            <a:r>
              <a:rPr lang="ko-KR" altLang="en-US" sz="1100" dirty="0" smtClean="0">
                <a:solidFill>
                  <a:srgbClr val="FF0000"/>
                </a:solidFill>
              </a:rPr>
              <a:t> </a:t>
            </a:r>
            <a:r>
              <a:rPr lang="en-US" altLang="ko-KR" sz="1100" dirty="0" smtClean="0">
                <a:solidFill>
                  <a:srgbClr val="FF0000"/>
                </a:solidFill>
              </a:rPr>
              <a:t>NEXT </a:t>
            </a:r>
            <a:r>
              <a:rPr lang="ko-KR" altLang="en-US" sz="1100" dirty="0" smtClean="0">
                <a:solidFill>
                  <a:srgbClr val="FF0000"/>
                </a:solidFill>
              </a:rPr>
              <a:t>누르</a:t>
            </a:r>
            <a:r>
              <a:rPr lang="ko-KR" altLang="en-US" sz="1100" dirty="0">
                <a:solidFill>
                  <a:srgbClr val="FF0000"/>
                </a:solidFill>
              </a:rPr>
              <a:t>기</a:t>
            </a:r>
          </a:p>
        </p:txBody>
      </p:sp>
    </p:spTree>
    <p:extLst>
      <p:ext uri="{BB962C8B-B14F-4D97-AF65-F5344CB8AC3E}">
        <p14:creationId xmlns:p14="http://schemas.microsoft.com/office/powerpoint/2010/main" xmlns="" val="209508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://www.egovframe.org/wiki/lib/exe/fetch.php?media=egovframework:dev2:imp:editor:hsql_04.png">
            <a:hlinkClick r:id="rId2" tooltip="egovframework:dev2:imp:editor:hsql_04.png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56" y="838199"/>
            <a:ext cx="5000625" cy="601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://www.egovframe.org/wiki/lib/exe/fetch.php?media=egovframework:dev2:imp:editor:hsql_05.png">
            <a:hlinkClick r:id="rId4" tooltip="egovframework:dev2:imp:editor:hsql_05.png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71777" y="1196752"/>
            <a:ext cx="4136727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4391012" y="1844824"/>
            <a:ext cx="252996" cy="146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/>
          <p:cNvCxnSpPr/>
          <p:nvPr/>
        </p:nvCxnSpPr>
        <p:spPr>
          <a:xfrm flipV="1">
            <a:off x="4644008" y="1340768"/>
            <a:ext cx="576064" cy="57710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5093573" y="2852936"/>
            <a:ext cx="4046233" cy="146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076056" y="2130772"/>
            <a:ext cx="4046233" cy="146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075543" y="3284984"/>
            <a:ext cx="41769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Name/Type</a:t>
            </a:r>
            <a:r>
              <a:rPr lang="ko-KR" altLang="en-US" dirty="0" err="1" smtClean="0"/>
              <a:t>란에서</a:t>
            </a:r>
            <a:r>
              <a:rPr lang="ko-KR" altLang="en-US" dirty="0" smtClean="0"/>
              <a:t> 해당 </a:t>
            </a:r>
            <a:r>
              <a:rPr lang="en-US" altLang="ko-KR" dirty="0" smtClean="0"/>
              <a:t>Driver</a:t>
            </a:r>
            <a:r>
              <a:rPr lang="ko-KR" altLang="en-US" dirty="0" smtClean="0"/>
              <a:t>선택 후 </a:t>
            </a:r>
            <a:endParaRPr lang="en-US" altLang="ko-KR" dirty="0" smtClean="0"/>
          </a:p>
          <a:p>
            <a:r>
              <a:rPr lang="en-US" altLang="ko-KR" dirty="0" smtClean="0"/>
              <a:t>JAR List</a:t>
            </a:r>
            <a:r>
              <a:rPr lang="ko-KR" altLang="en-US" dirty="0" smtClean="0"/>
              <a:t>로 탭을 변경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112574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egovframe.org/wiki/lib/exe/fetch.php?media=egovframework:dev2:imp:editor:hsql_06.png">
            <a:hlinkClick r:id="rId2" tooltip="egovframework:dev2:imp:editor:hsql_06.png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548680"/>
            <a:ext cx="5715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http://www.egovframe.org/wiki/lib/exe/fetch.php?media=egovframework:dev2:imp:editor:hsql_08.png">
            <a:hlinkClick r:id="rId4" tooltip="egovframework:dev2:imp:editor:hsql_08.png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495424"/>
            <a:ext cx="3949700" cy="536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23528" y="2492896"/>
            <a:ext cx="502503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1.</a:t>
            </a:r>
            <a:r>
              <a:rPr lang="ko-KR" altLang="en-US" b="1" dirty="0" smtClean="0">
                <a:solidFill>
                  <a:srgbClr val="FF0000"/>
                </a:solidFill>
              </a:rPr>
              <a:t>기존에 있는 </a:t>
            </a:r>
            <a:r>
              <a:rPr lang="en-US" altLang="ko-KR" b="1" dirty="0" smtClean="0">
                <a:solidFill>
                  <a:srgbClr val="FF0000"/>
                </a:solidFill>
              </a:rPr>
              <a:t>hsqldb.jar</a:t>
            </a:r>
            <a:r>
              <a:rPr lang="ko-KR" altLang="en-US" b="1" dirty="0" smtClean="0">
                <a:solidFill>
                  <a:srgbClr val="FF0000"/>
                </a:solidFill>
              </a:rPr>
              <a:t>를 </a:t>
            </a:r>
            <a:r>
              <a:rPr lang="en-US" altLang="ko-KR" b="1" dirty="0" smtClean="0">
                <a:solidFill>
                  <a:srgbClr val="FF0000"/>
                </a:solidFill>
              </a:rPr>
              <a:t>remove</a:t>
            </a:r>
            <a:r>
              <a:rPr lang="ko-KR" altLang="en-US" b="1" dirty="0" smtClean="0">
                <a:solidFill>
                  <a:srgbClr val="FF0000"/>
                </a:solidFill>
              </a:rPr>
              <a:t>한 후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Add JAR/ZIP</a:t>
            </a:r>
            <a:r>
              <a:rPr lang="ko-KR" altLang="en-US" b="1" dirty="0" smtClean="0">
                <a:solidFill>
                  <a:srgbClr val="FF0000"/>
                </a:solidFill>
              </a:rPr>
              <a:t>을 누른 후 최초 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C</a:t>
            </a:r>
            <a:r>
              <a:rPr lang="en-US" altLang="ko-KR" b="1" dirty="0">
                <a:solidFill>
                  <a:srgbClr val="FF0000"/>
                </a:solidFill>
              </a:rPr>
              <a:t>:\</a:t>
            </a:r>
            <a:r>
              <a:rPr lang="en-US" altLang="ko-KR" b="1" dirty="0" smtClean="0">
                <a:solidFill>
                  <a:srgbClr val="FF0000"/>
                </a:solidFill>
              </a:rPr>
              <a:t>eGovFrameDev-2.5.0-FullVer\workspace</a:t>
            </a: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\</a:t>
            </a:r>
            <a:r>
              <a:rPr lang="en-US" altLang="ko-KR" b="1" dirty="0" err="1" smtClean="0">
                <a:solidFill>
                  <a:srgbClr val="FF0000"/>
                </a:solidFill>
              </a:rPr>
              <a:t>AnalysisofMIS</a:t>
            </a:r>
            <a:r>
              <a:rPr lang="en-US" altLang="ko-KR" b="1" dirty="0" smtClean="0">
                <a:solidFill>
                  <a:srgbClr val="FF0000"/>
                </a:solidFill>
              </a:rPr>
              <a:t>\DATABASE\</a:t>
            </a:r>
            <a:r>
              <a:rPr lang="en-US" altLang="ko-KR" b="1" dirty="0" err="1" smtClean="0">
                <a:solidFill>
                  <a:srgbClr val="FF0000"/>
                </a:solidFill>
              </a:rPr>
              <a:t>db</a:t>
            </a:r>
            <a:r>
              <a:rPr lang="ko-KR" altLang="en-US" b="1" dirty="0" smtClean="0">
                <a:solidFill>
                  <a:srgbClr val="FF0000"/>
                </a:solidFill>
              </a:rPr>
              <a:t>로 이동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2. </a:t>
            </a:r>
            <a:r>
              <a:rPr lang="en-US" altLang="ko-KR" b="1" dirty="0" smtClean="0">
                <a:solidFill>
                  <a:srgbClr val="FF0000"/>
                </a:solidFill>
              </a:rPr>
              <a:t>hsqldb-1.8.0.10.jar</a:t>
            </a:r>
            <a:r>
              <a:rPr lang="ko-KR" altLang="en-US" b="1" dirty="0" smtClean="0">
                <a:solidFill>
                  <a:srgbClr val="FF0000"/>
                </a:solidFill>
              </a:rPr>
              <a:t>를 선택한다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3. OK </a:t>
            </a:r>
            <a:r>
              <a:rPr lang="ko-KR" altLang="en-US" b="1" dirty="0" smtClean="0">
                <a:solidFill>
                  <a:srgbClr val="FF0000"/>
                </a:solidFill>
              </a:rPr>
              <a:t>버튼을 누름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7144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http://www.egovframe.org/wiki/lib/exe/fetch.php?media=egovframework:dev2:imp:editor:hsql_09.png">
            <a:hlinkClick r:id="rId2" tooltip="egovframework:dev2:imp:editor:hsql_09.png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496" y="332655"/>
            <a:ext cx="5095875" cy="3240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292080" y="980728"/>
            <a:ext cx="275511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Database: SAMPLE</a:t>
            </a:r>
          </a:p>
          <a:p>
            <a:r>
              <a:rPr lang="en-US" altLang="ko-KR" sz="1400" dirty="0" smtClean="0"/>
              <a:t>Database location: </a:t>
            </a:r>
            <a:r>
              <a:rPr lang="en-US" altLang="ko-KR" sz="1400" dirty="0" err="1" smtClean="0"/>
              <a:t>MyDB</a:t>
            </a:r>
            <a:r>
              <a:rPr lang="en-US" altLang="ko-KR" sz="1400" dirty="0" smtClean="0"/>
              <a:t>,</a:t>
            </a:r>
          </a:p>
          <a:p>
            <a:r>
              <a:rPr lang="en-US" altLang="ko-KR" sz="1400" dirty="0" smtClean="0"/>
              <a:t>User name: </a:t>
            </a:r>
            <a:r>
              <a:rPr lang="en-US" altLang="ko-KR" sz="1400" dirty="0" err="1" smtClean="0"/>
              <a:t>sa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ko-KR" altLang="en-US" sz="1400" dirty="0" smtClean="0"/>
              <a:t>확인 후 </a:t>
            </a:r>
            <a:r>
              <a:rPr lang="en-US" altLang="ko-KR" sz="1400" dirty="0" smtClean="0"/>
              <a:t>Test Connection </a:t>
            </a:r>
            <a:r>
              <a:rPr lang="ko-KR" altLang="en-US" sz="1400" dirty="0" smtClean="0"/>
              <a:t>누르고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ko-KR" altLang="en-US" sz="1400" dirty="0" smtClean="0"/>
              <a:t>성공 </a:t>
            </a:r>
            <a:r>
              <a:rPr lang="ko-KR" altLang="en-US" sz="1400" dirty="0" err="1" smtClean="0"/>
              <a:t>메세지</a:t>
            </a:r>
            <a:r>
              <a:rPr lang="ko-KR" altLang="en-US" sz="1400" dirty="0" smtClean="0"/>
              <a:t> 확인 </a:t>
            </a:r>
            <a:endParaRPr lang="ko-KR" altLang="en-US" sz="1400" dirty="0"/>
          </a:p>
        </p:txBody>
      </p:sp>
      <p:sp>
        <p:nvSpPr>
          <p:cNvPr id="5" name="직사각형 4"/>
          <p:cNvSpPr/>
          <p:nvPr/>
        </p:nvSpPr>
        <p:spPr>
          <a:xfrm>
            <a:off x="5292080" y="980728"/>
            <a:ext cx="2755113" cy="17281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구부러진 연결선 7"/>
          <p:cNvCxnSpPr/>
          <p:nvPr/>
        </p:nvCxnSpPr>
        <p:spPr>
          <a:xfrm rot="16200000" flipH="1">
            <a:off x="4923693" y="2628565"/>
            <a:ext cx="1368152" cy="952797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8224" y="2996952"/>
            <a:ext cx="2555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아래와 같이 </a:t>
            </a:r>
            <a:r>
              <a:rPr lang="en-US" altLang="ko-KR" sz="1600" dirty="0" smtClean="0"/>
              <a:t>Data Source Explorer</a:t>
            </a:r>
            <a:r>
              <a:rPr lang="ko-KR" altLang="en-US" sz="1600" dirty="0" smtClean="0"/>
              <a:t>에 설치 되었음을 알 수 있다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sp>
        <p:nvSpPr>
          <p:cNvPr id="12" name="직사각형 11"/>
          <p:cNvSpPr/>
          <p:nvPr/>
        </p:nvSpPr>
        <p:spPr>
          <a:xfrm>
            <a:off x="6588224" y="2996952"/>
            <a:ext cx="2448272" cy="8309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Picture 2" descr="http://www.egovframe.org/wiki/lib/exe/fetch.php?media=egovframework:dev2:basicsample.jpg">
            <a:hlinkClick r:id="rId4" tooltip="egovframework:dev2:basicsample.jpg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3992859"/>
            <a:ext cx="4392488" cy="2865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구부러진 연결선 13"/>
          <p:cNvCxnSpPr/>
          <p:nvPr/>
        </p:nvCxnSpPr>
        <p:spPr>
          <a:xfrm rot="5400000">
            <a:off x="4346998" y="4698629"/>
            <a:ext cx="1080119" cy="989136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0" y="4329971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solidFill>
                  <a:srgbClr val="FF0000"/>
                </a:solidFill>
              </a:rPr>
              <a:t>[11,12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번 슬라이드를 다시 하였을 시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결과 페이지</a:t>
            </a:r>
            <a:r>
              <a:rPr lang="en-US" altLang="ko-KR" sz="1400" b="1" dirty="0">
                <a:solidFill>
                  <a:srgbClr val="FF0000"/>
                </a:solidFill>
              </a:rPr>
              <a:t>]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861048"/>
            <a:ext cx="3654870" cy="299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5496" y="6381328"/>
            <a:ext cx="42407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만약</a:t>
            </a:r>
            <a:r>
              <a:rPr lang="en-US" altLang="ko-KR" sz="1400" b="1" dirty="0" smtClean="0"/>
              <a:t>, </a:t>
            </a:r>
            <a:r>
              <a:rPr lang="ko-KR" altLang="en-US" sz="1400" b="1" dirty="0" smtClean="0"/>
              <a:t>다시 </a:t>
            </a:r>
            <a:r>
              <a:rPr lang="en-US" altLang="ko-KR" sz="1400" b="1" dirty="0" smtClean="0"/>
              <a:t>JDBC Error</a:t>
            </a:r>
            <a:r>
              <a:rPr lang="ko-KR" altLang="en-US" sz="1400" b="1" dirty="0" smtClean="0"/>
              <a:t>메시지가 떴을 경우</a:t>
            </a:r>
            <a:endParaRPr lang="en-US" altLang="ko-KR" sz="1400" b="1" dirty="0" smtClean="0"/>
          </a:p>
          <a:p>
            <a:r>
              <a:rPr lang="en-US" altLang="ko-KR" sz="1400" b="1" dirty="0" smtClean="0">
                <a:solidFill>
                  <a:srgbClr val="FF0000"/>
                </a:solidFill>
              </a:rPr>
              <a:t>runHsqlDB.cmd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가 계속 실행 되어 있는지 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Check!</a:t>
            </a:r>
            <a:r>
              <a:rPr lang="en-US" altLang="ko-KR" sz="1400" b="1" dirty="0" smtClean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xmlns="" val="3529713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http://www.egovframe.org/wiki/lib/exe/fetch.php?media=egovframework:dev2:sqlmapconf.jpg">
            <a:hlinkClick r:id="rId2" tooltip="egovframework:dev2:sqlmapconf.jpg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268760"/>
            <a:ext cx="5436096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http://www.egovframe.org/wiki/lib/exe/fetch.php?media=egovframework:dev2:contextds.jpg">
            <a:hlinkClick r:id="rId4" tooltip="egovframework:dev2:contextds.jpg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905672"/>
            <a:ext cx="6156176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5461248" y="1724615"/>
            <a:ext cx="36827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① </a:t>
            </a:r>
            <a:r>
              <a:rPr lang="en-US" altLang="ko-KR" b="1" dirty="0" smtClean="0">
                <a:solidFill>
                  <a:srgbClr val="FF0000"/>
                </a:solidFill>
              </a:rPr>
              <a:t>DB </a:t>
            </a:r>
            <a:r>
              <a:rPr lang="ko-KR" altLang="en-US" b="1" dirty="0">
                <a:solidFill>
                  <a:srgbClr val="FF0000"/>
                </a:solidFill>
              </a:rPr>
              <a:t>정보를 변경할 프로젝트의 </a:t>
            </a:r>
            <a:r>
              <a:rPr lang="en-US" altLang="ko-KR" b="1" dirty="0">
                <a:solidFill>
                  <a:srgbClr val="FF0000"/>
                </a:solidFill>
              </a:rPr>
              <a:t>sql-map-config.xml </a:t>
            </a:r>
            <a:r>
              <a:rPr lang="ko-KR" altLang="en-US" b="1" dirty="0">
                <a:solidFill>
                  <a:srgbClr val="FF0000"/>
                </a:solidFill>
              </a:rPr>
              <a:t>파일을 다음과 같이 수정한다</a:t>
            </a:r>
            <a:r>
              <a:rPr lang="en-US" altLang="ko-KR" b="1" dirty="0">
                <a:solidFill>
                  <a:srgbClr val="FF0000"/>
                </a:solidFill>
              </a:rPr>
              <a:t>. </a:t>
            </a:r>
            <a:r>
              <a:rPr lang="en-US" altLang="ko-KR" b="1" dirty="0"/>
              <a:t/>
            </a:r>
            <a:br>
              <a:rPr lang="en-US" altLang="ko-KR" b="1" dirty="0"/>
            </a:br>
            <a:endParaRPr lang="ko-KR" altLang="en-US" b="1" dirty="0"/>
          </a:p>
        </p:txBody>
      </p:sp>
      <p:sp>
        <p:nvSpPr>
          <p:cNvPr id="5" name="직사각형 4"/>
          <p:cNvSpPr/>
          <p:nvPr/>
        </p:nvSpPr>
        <p:spPr>
          <a:xfrm>
            <a:off x="0" y="4797152"/>
            <a:ext cx="298782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②</a:t>
            </a:r>
            <a:r>
              <a:rPr lang="en-US" altLang="ko-KR" b="1" dirty="0" smtClean="0">
                <a:solidFill>
                  <a:srgbClr val="FF0000"/>
                </a:solidFill>
              </a:rPr>
              <a:t>context-datasource.xml </a:t>
            </a:r>
            <a:r>
              <a:rPr lang="ko-KR" altLang="en-US" b="1" dirty="0">
                <a:solidFill>
                  <a:srgbClr val="FF0000"/>
                </a:solidFill>
              </a:rPr>
              <a:t>파일을 다음과 같이 수정하고 사용할 </a:t>
            </a:r>
            <a:r>
              <a:rPr lang="en-US" altLang="ko-KR" b="1" dirty="0">
                <a:solidFill>
                  <a:srgbClr val="FF0000"/>
                </a:solidFill>
              </a:rPr>
              <a:t>DB </a:t>
            </a:r>
            <a:r>
              <a:rPr lang="ko-KR" altLang="en-US" b="1" dirty="0">
                <a:solidFill>
                  <a:srgbClr val="FF0000"/>
                </a:solidFill>
              </a:rPr>
              <a:t>정보를 입력한다</a:t>
            </a:r>
            <a:r>
              <a:rPr lang="en-US" altLang="ko-KR" b="1" dirty="0">
                <a:solidFill>
                  <a:srgbClr val="FF0000"/>
                </a:solidFill>
              </a:rPr>
              <a:t>. </a:t>
            </a:r>
            <a:br>
              <a:rPr lang="en-US" altLang="ko-KR" b="1" dirty="0">
                <a:solidFill>
                  <a:srgbClr val="FF0000"/>
                </a:solidFill>
              </a:rPr>
            </a:b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431086"/>
            <a:ext cx="2371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DB </a:t>
            </a:r>
            <a:r>
              <a:rPr lang="ko-KR" altLang="en-US" sz="2800" b="1" dirty="0" smtClean="0"/>
              <a:t>정보 변경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xmlns="" val="1160182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http://www.egovframe.org/wiki/lib/exe/fetch.php?media=egovframework:dev2:dependency.jpg">
            <a:hlinkClick r:id="rId2" tooltip="egovframework:dev2:dependency.jpg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07580"/>
            <a:ext cx="4114800" cy="101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http://www.egovframe.org/wiki/lib/exe/fetch.php?media=egovframework:dev2:maveninstall.jpg">
            <a:hlinkClick r:id="rId4" tooltip="egovframework:dev2:maveninstall.jpg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60612" y="2204864"/>
            <a:ext cx="6819900" cy="4646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4870376" y="1294002"/>
            <a:ext cx="40221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③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pom.xml </a:t>
            </a:r>
            <a:r>
              <a:rPr lang="ko-KR" altLang="en-US" sz="1600" b="1" dirty="0">
                <a:solidFill>
                  <a:srgbClr val="FF0000"/>
                </a:solidFill>
              </a:rPr>
              <a:t>파일에 다음과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같은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dependency</a:t>
            </a:r>
            <a:r>
              <a:rPr lang="ko-KR" altLang="en-US" sz="1600" b="1" dirty="0">
                <a:solidFill>
                  <a:srgbClr val="FF0000"/>
                </a:solidFill>
              </a:rPr>
              <a:t>를 추가한다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391840" y="3140968"/>
            <a:ext cx="1875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④프로젝트 </a:t>
            </a:r>
            <a:r>
              <a:rPr lang="ko-KR" altLang="en-US" b="1" dirty="0">
                <a:solidFill>
                  <a:srgbClr val="FF0000"/>
                </a:solidFill>
              </a:rPr>
              <a:t>마우스 </a:t>
            </a:r>
            <a:r>
              <a:rPr lang="ko-KR" altLang="en-US" b="1" dirty="0" err="1">
                <a:solidFill>
                  <a:srgbClr val="FF0000"/>
                </a:solidFill>
              </a:rPr>
              <a:t>우클릭</a:t>
            </a:r>
            <a:r>
              <a:rPr lang="ko-KR" altLang="en-US" b="1" dirty="0">
                <a:solidFill>
                  <a:srgbClr val="FF0000"/>
                </a:solidFill>
              </a:rPr>
              <a:t> 후 “</a:t>
            </a:r>
            <a:r>
              <a:rPr lang="en-US" altLang="ko-KR" b="1" i="1" dirty="0">
                <a:solidFill>
                  <a:srgbClr val="FF0000"/>
                </a:solidFill>
              </a:rPr>
              <a:t>R</a:t>
            </a:r>
            <a:r>
              <a:rPr lang="en-US" altLang="ko-KR" b="1" dirty="0">
                <a:solidFill>
                  <a:srgbClr val="FF0000"/>
                </a:solidFill>
              </a:rPr>
              <a:t>un As &gt; Maven install”</a:t>
            </a:r>
            <a:r>
              <a:rPr lang="ko-KR" altLang="en-US" b="1" dirty="0">
                <a:solidFill>
                  <a:srgbClr val="FF0000"/>
                </a:solidFill>
              </a:rPr>
              <a:t>을 선택한다</a:t>
            </a:r>
            <a:r>
              <a:rPr lang="en-US" altLang="ko-KR" b="1" dirty="0">
                <a:solidFill>
                  <a:srgbClr val="FF0000"/>
                </a:solidFill>
              </a:rPr>
              <a:t>. </a:t>
            </a:r>
            <a:br>
              <a:rPr lang="en-US" altLang="ko-KR" b="1" dirty="0">
                <a:solidFill>
                  <a:srgbClr val="FF0000"/>
                </a:solidFill>
              </a:rPr>
            </a:b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85862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>
            <a:off x="36512" y="3717032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291092" y="2060847"/>
            <a:ext cx="472918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600" b="1" dirty="0" smtClean="0"/>
              <a:t>STEP1. </a:t>
            </a:r>
            <a:r>
              <a:rPr lang="ko-KR" altLang="en-US" sz="3600" b="1" dirty="0" smtClean="0"/>
              <a:t>개발환경 설치</a:t>
            </a:r>
            <a:endParaRPr lang="en-US" altLang="ko-KR" sz="3600" b="1" dirty="0" smtClean="0"/>
          </a:p>
          <a:p>
            <a:r>
              <a:rPr lang="en-US" altLang="ko-KR" sz="2400" b="1" dirty="0" smtClean="0"/>
              <a:t>          -(</a:t>
            </a:r>
            <a:r>
              <a:rPr lang="ko-KR" altLang="en-US" sz="2400" b="1" dirty="0" smtClean="0"/>
              <a:t>플러그인 설치</a:t>
            </a:r>
            <a:r>
              <a:rPr lang="en-US" altLang="ko-KR" sz="2400" b="1" dirty="0" smtClean="0"/>
              <a:t>) </a:t>
            </a:r>
            <a:r>
              <a:rPr lang="ko-KR" altLang="en-US" sz="2400" b="1" dirty="0" smtClean="0"/>
              <a:t>편</a:t>
            </a:r>
            <a:r>
              <a:rPr lang="en-US" altLang="ko-KR" sz="2400" b="1" dirty="0" smtClean="0"/>
              <a:t>-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xmlns="" val="114888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http://www.egovframe.org/wiki/lib/exe/fetch.php?media=egovframework:dev2:imp:editor:ide:select_custom_menu.png">
            <a:hlinkClick r:id="rId2" tooltip="egovframework:dev2:imp:editor:ide:select_custom_menu.png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1340768"/>
            <a:ext cx="3960440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http://www.egovframe.org/wiki/lib/exe/fetch.php?media=egovframework:dev2:imp:editor:ide:custom_list.png">
            <a:hlinkClick r:id="rId4" tooltip="egovframework:dev2:imp:editor:ide:custom_list.png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4008" y="3284984"/>
            <a:ext cx="4495304" cy="3573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4605660" y="142555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①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eGovFrame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통합 메뉴에서 </a:t>
            </a:r>
            <a:r>
              <a:rPr lang="en-US" altLang="ko-KR" b="1" dirty="0">
                <a:solidFill>
                  <a:srgbClr val="FF0000"/>
                </a:solidFill>
              </a:rPr>
              <a:t>Configuration&gt;Customize Development Tool </a:t>
            </a:r>
            <a:r>
              <a:rPr lang="ko-KR" altLang="en-US" b="1" dirty="0">
                <a:solidFill>
                  <a:srgbClr val="FF0000"/>
                </a:solidFill>
              </a:rPr>
              <a:t>메뉴를 선택한다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51520" y="4305870"/>
            <a:ext cx="42484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② </a:t>
            </a:r>
            <a:r>
              <a:rPr lang="en-US" altLang="ko-KR" b="1" dirty="0" smtClean="0">
                <a:solidFill>
                  <a:srgbClr val="FF0000"/>
                </a:solidFill>
              </a:rPr>
              <a:t>Install </a:t>
            </a:r>
            <a:r>
              <a:rPr lang="en-US" altLang="ko-KR" b="1" dirty="0">
                <a:solidFill>
                  <a:srgbClr val="FF0000"/>
                </a:solidFill>
              </a:rPr>
              <a:t>Wizard</a:t>
            </a:r>
            <a:r>
              <a:rPr lang="ko-KR" altLang="en-US" b="1" dirty="0">
                <a:solidFill>
                  <a:srgbClr val="FF0000"/>
                </a:solidFill>
              </a:rPr>
              <a:t>에서 필요 기능을 선택하고 </a:t>
            </a:r>
            <a:r>
              <a:rPr lang="en-US" altLang="ko-KR" b="1" dirty="0">
                <a:solidFill>
                  <a:srgbClr val="FF0000"/>
                </a:solidFill>
              </a:rPr>
              <a:t>Next </a:t>
            </a:r>
            <a:r>
              <a:rPr lang="ko-KR" altLang="en-US" b="1" dirty="0">
                <a:solidFill>
                  <a:srgbClr val="FF0000"/>
                </a:solidFill>
              </a:rPr>
              <a:t>버튼을 눌러 설치를 완료한다</a:t>
            </a:r>
          </a:p>
        </p:txBody>
      </p:sp>
      <p:cxnSp>
        <p:nvCxnSpPr>
          <p:cNvPr id="9" name="구부러진 연결선 8"/>
          <p:cNvCxnSpPr/>
          <p:nvPr/>
        </p:nvCxnSpPr>
        <p:spPr>
          <a:xfrm>
            <a:off x="3275856" y="2817143"/>
            <a:ext cx="1329804" cy="1259929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59423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>
            <a:off x="36512" y="3717032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291092" y="2060847"/>
            <a:ext cx="472918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600" b="1" dirty="0" smtClean="0"/>
              <a:t>STEP1. </a:t>
            </a:r>
            <a:r>
              <a:rPr lang="ko-KR" altLang="en-US" sz="3600" b="1" dirty="0" smtClean="0"/>
              <a:t>개발환경 설치</a:t>
            </a:r>
            <a:endParaRPr lang="en-US" altLang="ko-KR" sz="3600" b="1" dirty="0" smtClean="0"/>
          </a:p>
          <a:p>
            <a:r>
              <a:rPr lang="en-US" altLang="ko-KR" sz="2400" b="1" dirty="0" smtClean="0"/>
              <a:t>          -(Maven </a:t>
            </a:r>
            <a:r>
              <a:rPr lang="ko-KR" altLang="en-US" sz="2400" b="1" dirty="0" smtClean="0"/>
              <a:t>환경설정</a:t>
            </a:r>
            <a:r>
              <a:rPr lang="en-US" altLang="ko-KR" sz="2400" b="1" dirty="0" smtClean="0"/>
              <a:t>) </a:t>
            </a:r>
            <a:r>
              <a:rPr lang="ko-KR" altLang="en-US" sz="2400" b="1" dirty="0" smtClean="0"/>
              <a:t>편</a:t>
            </a:r>
            <a:r>
              <a:rPr lang="en-US" altLang="ko-KR" sz="2400" b="1" dirty="0" smtClean="0"/>
              <a:t>-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xmlns="" val="1398718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1307728" y="260648"/>
            <a:ext cx="6779096" cy="706090"/>
          </a:xfrm>
        </p:spPr>
        <p:txBody>
          <a:bodyPr/>
          <a:lstStyle/>
          <a:p>
            <a:r>
              <a:rPr lang="ko-KR" altLang="en-US" sz="2400" dirty="0" smtClean="0"/>
              <a:t>종속라이브러리 설치순서</a:t>
            </a:r>
            <a:endParaRPr lang="ko-KR" altLang="en-US" sz="2400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539552" y="1124744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ko-KR" sz="1200" dirty="0" smtClean="0"/>
              <a:t>1.Maven </a:t>
            </a:r>
            <a:r>
              <a:rPr lang="ko-KR" altLang="en-US" sz="1200" dirty="0" smtClean="0"/>
              <a:t>설정파일 및 종속라이브러리를 포함한 </a:t>
            </a:r>
            <a:r>
              <a:rPr lang="en-US" altLang="ko-KR" sz="1200" dirty="0" smtClean="0">
                <a:hlinkClick r:id="rId2" action="ppaction://hlinkfile" tooltip="egovframework:dev:mavenrepository_2.0.zip"/>
              </a:rPr>
              <a:t>mavenrepository_2.0.zip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를</a:t>
            </a:r>
            <a:r>
              <a:rPr lang="ko-KR" altLang="en-US" sz="1200" dirty="0" smtClean="0"/>
              <a:t> 다운로드 한다</a:t>
            </a:r>
            <a:r>
              <a:rPr lang="en-US" altLang="ko-KR" sz="1200" dirty="0" smtClean="0"/>
              <a:t>.</a:t>
            </a:r>
          </a:p>
          <a:p>
            <a:pPr>
              <a:buNone/>
            </a:pPr>
            <a:r>
              <a:rPr lang="en-US" altLang="ko-KR" sz="1200" dirty="0" smtClean="0"/>
              <a:t>2.</a:t>
            </a:r>
            <a:r>
              <a:rPr lang="ko-KR" altLang="en-US" sz="1200" dirty="0" smtClean="0"/>
              <a:t>다운로드 받은 파일은 임의의 </a:t>
            </a:r>
            <a:r>
              <a:rPr lang="ko-KR" altLang="en-US" sz="1200" dirty="0" err="1" smtClean="0"/>
              <a:t>디렉토리에서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압축해제한다</a:t>
            </a:r>
            <a:r>
              <a:rPr lang="en-US" altLang="ko-KR" sz="1200" dirty="0" smtClean="0"/>
              <a:t>.(</a:t>
            </a:r>
            <a:r>
              <a:rPr lang="ko-KR" altLang="en-US" sz="1200" dirty="0" err="1" smtClean="0"/>
              <a:t>압축해제한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디렉토리는</a:t>
            </a:r>
            <a:r>
              <a:rPr lang="ko-KR" altLang="en-US" sz="1200" dirty="0" smtClean="0"/>
              <a:t> </a:t>
            </a:r>
            <a:r>
              <a:rPr lang="en-US" altLang="ko-KR" sz="1200" b="1" i="1" dirty="0" smtClean="0"/>
              <a:t>[</a:t>
            </a:r>
            <a:r>
              <a:rPr lang="en-US" altLang="ko-KR" sz="1200" b="1" i="1" dirty="0" err="1" smtClean="0"/>
              <a:t>MavenRepository</a:t>
            </a:r>
            <a:r>
              <a:rPr lang="en-US" altLang="ko-KR" sz="1200" b="1" i="1" dirty="0" smtClean="0"/>
              <a:t> </a:t>
            </a:r>
            <a:r>
              <a:rPr lang="ko-KR" altLang="en-US" sz="1200" b="1" i="1" dirty="0" err="1" smtClean="0"/>
              <a:t>설치디렉토리</a:t>
            </a:r>
            <a:r>
              <a:rPr lang="en-US" altLang="ko-KR" sz="1200" b="1" i="1" dirty="0" smtClean="0"/>
              <a:t>]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pPr>
              <a:buNone/>
            </a:pPr>
            <a:r>
              <a:rPr lang="ko-KR" altLang="en-US" sz="1200" dirty="0" smtClean="0"/>
              <a:t>   </a:t>
            </a:r>
            <a:r>
              <a:rPr lang="ko-KR" altLang="en-US" sz="1200" dirty="0" err="1" smtClean="0"/>
              <a:t>로</a:t>
            </a:r>
            <a:r>
              <a:rPr lang="ko-KR" altLang="en-US" sz="1200" dirty="0" smtClean="0"/>
              <a:t> 명명한다</a:t>
            </a:r>
            <a:r>
              <a:rPr lang="en-US" altLang="ko-KR" sz="1200" dirty="0" smtClean="0"/>
              <a:t>.)</a:t>
            </a:r>
          </a:p>
          <a:p>
            <a:pPr>
              <a:buNone/>
            </a:pPr>
            <a:r>
              <a:rPr lang="en-US" altLang="ko-KR" sz="1200" dirty="0" smtClean="0"/>
              <a:t>3.</a:t>
            </a:r>
            <a:r>
              <a:rPr lang="ko-KR" altLang="en-US" sz="1200" dirty="0" smtClean="0"/>
              <a:t>텍스트 에디터를 이용하여 </a:t>
            </a:r>
            <a:r>
              <a:rPr lang="en-US" altLang="ko-KR" sz="1200" b="1" i="1" dirty="0" smtClean="0"/>
              <a:t>[</a:t>
            </a:r>
            <a:r>
              <a:rPr lang="en-US" altLang="ko-KR" sz="1200" b="1" i="1" dirty="0" err="1" smtClean="0"/>
              <a:t>MavenRepository</a:t>
            </a:r>
            <a:r>
              <a:rPr lang="en-US" altLang="ko-KR" sz="1200" b="1" i="1" dirty="0" smtClean="0"/>
              <a:t> </a:t>
            </a:r>
            <a:r>
              <a:rPr lang="ko-KR" altLang="en-US" sz="1200" b="1" i="1" dirty="0" err="1" smtClean="0"/>
              <a:t>설치디렉토리</a:t>
            </a:r>
            <a:r>
              <a:rPr lang="en-US" altLang="ko-KR" sz="1200" b="1" i="1" dirty="0" smtClean="0"/>
              <a:t>]</a:t>
            </a:r>
            <a:r>
              <a:rPr lang="en-US" altLang="ko-KR" sz="1200" dirty="0" smtClean="0"/>
              <a:t>/settings.xml </a:t>
            </a:r>
            <a:r>
              <a:rPr lang="ko-KR" altLang="en-US" sz="1200" dirty="0" smtClean="0"/>
              <a:t>파일의 </a:t>
            </a:r>
            <a:r>
              <a:rPr lang="en-US" altLang="ko-KR" sz="1200" dirty="0" err="1" smtClean="0"/>
              <a:t>localRepository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항목의 값을 다음</a:t>
            </a:r>
            <a:endParaRPr lang="en-US" altLang="ko-KR" sz="1200" dirty="0" smtClean="0"/>
          </a:p>
          <a:p>
            <a:pPr>
              <a:buNone/>
            </a:pPr>
            <a:r>
              <a:rPr lang="ko-KR" altLang="en-US" sz="1200" dirty="0" smtClean="0"/>
              <a:t>   과 같이 수정한다</a:t>
            </a:r>
            <a:r>
              <a:rPr lang="en-US" altLang="ko-KR" sz="1200" dirty="0" smtClean="0"/>
              <a:t>.</a:t>
            </a:r>
          </a:p>
          <a:p>
            <a:endParaRPr lang="ko-KR" alt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2564904"/>
            <a:ext cx="8283649" cy="1047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/>
        </p:nvSpPr>
        <p:spPr>
          <a:xfrm>
            <a:off x="658168" y="3166368"/>
            <a:ext cx="5328592" cy="144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5400600" y="4653136"/>
            <a:ext cx="3743400" cy="15121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809674" y="4679055"/>
            <a:ext cx="1487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</a:rPr>
              <a:t>Maven</a:t>
            </a:r>
            <a:r>
              <a:rPr lang="ko-KR" altLang="en-US" b="1" dirty="0" smtClean="0">
                <a:solidFill>
                  <a:schemeClr val="bg1"/>
                </a:solidFill>
              </a:rPr>
              <a:t>이란</a:t>
            </a:r>
            <a:r>
              <a:rPr lang="en-US" altLang="ko-KR" b="1" dirty="0" smtClean="0">
                <a:solidFill>
                  <a:schemeClr val="bg1"/>
                </a:solidFill>
              </a:rPr>
              <a:t>?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00600" y="5097079"/>
            <a:ext cx="395717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 smtClean="0"/>
              <a:t>Maven</a:t>
            </a:r>
            <a:r>
              <a:rPr lang="ko-KR" altLang="en-US" sz="1400" dirty="0" smtClean="0"/>
              <a:t>은 소프트 프로젝트 관리 툴이다</a:t>
            </a:r>
            <a:r>
              <a:rPr lang="en-US" altLang="ko-KR" sz="1400" dirty="0" smtClean="0"/>
              <a:t>.</a:t>
            </a:r>
          </a:p>
          <a:p>
            <a:pPr marL="342900" indent="-342900">
              <a:buAutoNum type="arabicPeriod"/>
            </a:pPr>
            <a:r>
              <a:rPr lang="en-US" altLang="ko-KR" sz="1400" dirty="0" smtClean="0"/>
              <a:t>POM(project </a:t>
            </a:r>
            <a:r>
              <a:rPr lang="en-US" altLang="ko-KR" sz="1400" dirty="0"/>
              <a:t>object </a:t>
            </a:r>
            <a:r>
              <a:rPr lang="en-US" altLang="ko-KR" sz="1400" dirty="0" smtClean="0"/>
              <a:t>model)</a:t>
            </a:r>
            <a:r>
              <a:rPr lang="ko-KR" altLang="en-US" sz="1400" dirty="0" smtClean="0"/>
              <a:t>기반으로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중앙 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</a:t>
            </a:r>
            <a:r>
              <a:rPr lang="ko-KR" altLang="en-US" sz="1400" dirty="0" smtClean="0"/>
              <a:t>정보로 부터 </a:t>
            </a:r>
            <a:r>
              <a:rPr lang="en-US" altLang="ko-KR" sz="1400" dirty="0" smtClean="0"/>
              <a:t>project's </a:t>
            </a:r>
            <a:r>
              <a:rPr lang="en-US" altLang="ko-KR" sz="1400" dirty="0"/>
              <a:t>build, </a:t>
            </a:r>
            <a:r>
              <a:rPr lang="en-US" altLang="ko-KR" sz="1400" dirty="0" smtClean="0"/>
              <a:t>reporting,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documentation</a:t>
            </a:r>
            <a:r>
              <a:rPr lang="ko-KR" altLang="en-US" sz="1400" dirty="0" smtClean="0"/>
              <a:t>를 관리하는 것을 말함</a:t>
            </a:r>
            <a:endParaRPr lang="ko-KR" altLang="en-US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20361" y="3947132"/>
            <a:ext cx="5420961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직선 화살표 연결선 10"/>
          <p:cNvCxnSpPr/>
          <p:nvPr/>
        </p:nvCxnSpPr>
        <p:spPr>
          <a:xfrm flipH="1">
            <a:off x="2483768" y="3429000"/>
            <a:ext cx="1008112" cy="194421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107504" y="5373216"/>
            <a:ext cx="5293096" cy="200916"/>
          </a:xfrm>
          <a:prstGeom prst="rect">
            <a:avLst/>
          </a:prstGeom>
          <a:noFill/>
          <a:ln>
            <a:solidFill>
              <a:srgbClr val="C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690119" y="6300028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[</a:t>
            </a:r>
            <a:r>
              <a:rPr lang="ko-KR" altLang="en-US" b="1" dirty="0" smtClean="0"/>
              <a:t>수정 후의 모습</a:t>
            </a:r>
            <a:r>
              <a:rPr lang="en-US" altLang="ko-KR" b="1" dirty="0" smtClean="0"/>
              <a:t>]</a:t>
            </a:r>
            <a:endParaRPr lang="ko-KR" altLang="en-US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6032" y="836712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300" dirty="0" smtClean="0"/>
              <a:t>4.</a:t>
            </a:r>
            <a:r>
              <a:rPr lang="ko-KR" altLang="en-US" sz="1300" dirty="0" smtClean="0"/>
              <a:t>구현도구를 </a:t>
            </a:r>
            <a:r>
              <a:rPr lang="ko-KR" altLang="en-US" sz="1300" dirty="0"/>
              <a:t>실행한다</a:t>
            </a:r>
            <a:r>
              <a:rPr lang="en-US" altLang="ko-KR" sz="1300" dirty="0"/>
              <a:t>.</a:t>
            </a:r>
          </a:p>
          <a:p>
            <a:pPr marL="0" indent="0">
              <a:buNone/>
            </a:pPr>
            <a:r>
              <a:rPr lang="en-US" altLang="ko-KR" sz="1300" dirty="0" smtClean="0"/>
              <a:t>5.</a:t>
            </a:r>
            <a:r>
              <a:rPr lang="ko-KR" altLang="en-US" sz="1300" dirty="0" smtClean="0"/>
              <a:t>구현도구의 </a:t>
            </a:r>
            <a:r>
              <a:rPr lang="en-US" altLang="ko-KR" sz="1300" dirty="0"/>
              <a:t>window&gt;preferences </a:t>
            </a:r>
            <a:r>
              <a:rPr lang="ko-KR" altLang="en-US" sz="1300" dirty="0"/>
              <a:t>메뉴를 선택하여 설정화면을 표시한다</a:t>
            </a:r>
            <a:r>
              <a:rPr lang="en-US" altLang="ko-KR" sz="1300" dirty="0"/>
              <a:t>. </a:t>
            </a:r>
            <a:r>
              <a:rPr lang="ko-KR" altLang="en-US" sz="1300" dirty="0"/>
              <a:t>설정화면에서 </a:t>
            </a:r>
            <a:r>
              <a:rPr lang="en-US" altLang="ko-KR" sz="1300" dirty="0"/>
              <a:t>Maven&gt;</a:t>
            </a:r>
            <a:r>
              <a:rPr lang="en-US" altLang="ko-KR" sz="1300" dirty="0" err="1"/>
              <a:t>Installtions</a:t>
            </a:r>
            <a:r>
              <a:rPr lang="en-US" altLang="ko-KR" sz="1300" dirty="0"/>
              <a:t> </a:t>
            </a:r>
            <a:r>
              <a:rPr lang="en-US" altLang="ko-KR" sz="1300" dirty="0" smtClean="0"/>
              <a:t>                </a:t>
            </a:r>
          </a:p>
          <a:p>
            <a:pPr marL="0" indent="0">
              <a:buNone/>
            </a:pPr>
            <a:r>
              <a:rPr lang="en-US" altLang="ko-KR" sz="1300" dirty="0"/>
              <a:t> </a:t>
            </a:r>
            <a:r>
              <a:rPr lang="en-US" altLang="ko-KR" sz="1300" dirty="0" smtClean="0"/>
              <a:t> </a:t>
            </a:r>
            <a:r>
              <a:rPr lang="ko-KR" altLang="en-US" sz="1300" dirty="0" smtClean="0"/>
              <a:t>의 </a:t>
            </a:r>
            <a:r>
              <a:rPr lang="en-US" altLang="ko-KR" sz="1300" dirty="0"/>
              <a:t>User Settings </a:t>
            </a:r>
            <a:r>
              <a:rPr lang="ko-KR" altLang="en-US" sz="1300" dirty="0"/>
              <a:t>항목을 </a:t>
            </a:r>
            <a:r>
              <a:rPr lang="en-US" altLang="ko-KR" sz="1300" b="1" i="1" dirty="0"/>
              <a:t>[</a:t>
            </a:r>
            <a:r>
              <a:rPr lang="en-US" altLang="ko-KR" sz="1300" b="1" i="1" dirty="0" err="1"/>
              <a:t>MavenRepository</a:t>
            </a:r>
            <a:r>
              <a:rPr lang="en-US" altLang="ko-KR" sz="1300" b="1" i="1" dirty="0"/>
              <a:t> </a:t>
            </a:r>
            <a:r>
              <a:rPr lang="ko-KR" altLang="en-US" sz="1300" b="1" i="1" dirty="0" err="1"/>
              <a:t>설치디렉토리</a:t>
            </a:r>
            <a:r>
              <a:rPr lang="en-US" altLang="ko-KR" sz="1300" b="1" i="1" dirty="0"/>
              <a:t>]</a:t>
            </a:r>
            <a:r>
              <a:rPr lang="en-US" altLang="ko-KR" sz="1300" dirty="0"/>
              <a:t>/settings.xml </a:t>
            </a:r>
            <a:r>
              <a:rPr lang="ko-KR" altLang="en-US" sz="1300" dirty="0"/>
              <a:t>파일로 지정한다</a:t>
            </a:r>
            <a:r>
              <a:rPr lang="en-US" altLang="ko-KR" sz="1300" dirty="0"/>
              <a:t>.</a:t>
            </a:r>
          </a:p>
          <a:p>
            <a:pPr marL="0" indent="0">
              <a:buNone/>
            </a:pPr>
            <a:r>
              <a:rPr lang="en-US" altLang="ko-KR" sz="1300" dirty="0" smtClean="0"/>
              <a:t>6.Local </a:t>
            </a:r>
            <a:r>
              <a:rPr lang="en-US" altLang="ko-KR" sz="1300" dirty="0"/>
              <a:t>Repository </a:t>
            </a:r>
            <a:r>
              <a:rPr lang="ko-KR" altLang="en-US" sz="1300" dirty="0"/>
              <a:t>항목에 </a:t>
            </a:r>
            <a:r>
              <a:rPr lang="en-US" altLang="ko-KR" sz="1300" dirty="0"/>
              <a:t>settings.xml </a:t>
            </a:r>
            <a:r>
              <a:rPr lang="ko-KR" altLang="en-US" sz="1300" dirty="0"/>
              <a:t>파일을 수정한 내용과 일치하는 것을 확인한다</a:t>
            </a:r>
            <a:r>
              <a:rPr lang="en-US" altLang="ko-KR" sz="1300" dirty="0"/>
              <a:t>. </a:t>
            </a:r>
            <a:r>
              <a:rPr lang="ko-KR" altLang="en-US" sz="1300" dirty="0"/>
              <a:t>만약 설정한 내용과 </a:t>
            </a:r>
            <a:r>
              <a:rPr lang="ko-KR" altLang="en-US" sz="1300" dirty="0" smtClean="0"/>
              <a:t> </a:t>
            </a:r>
            <a:endParaRPr lang="en-US" altLang="ko-KR" sz="1300" dirty="0" smtClean="0"/>
          </a:p>
          <a:p>
            <a:pPr marL="0" indent="0">
              <a:buNone/>
            </a:pPr>
            <a:r>
              <a:rPr lang="en-US" altLang="ko-KR" sz="1300" dirty="0"/>
              <a:t> </a:t>
            </a:r>
            <a:r>
              <a:rPr lang="en-US" altLang="ko-KR" sz="1300" dirty="0" smtClean="0"/>
              <a:t> </a:t>
            </a:r>
            <a:r>
              <a:rPr lang="ko-KR" altLang="en-US" sz="1300" dirty="0" smtClean="0"/>
              <a:t>다른 </a:t>
            </a:r>
            <a:r>
              <a:rPr lang="ko-KR" altLang="en-US" sz="1300" dirty="0"/>
              <a:t>경우</a:t>
            </a:r>
            <a:r>
              <a:rPr lang="en-US" altLang="ko-KR" sz="1300" dirty="0"/>
              <a:t>, refresh settings </a:t>
            </a:r>
            <a:r>
              <a:rPr lang="ko-KR" altLang="en-US" sz="1300" dirty="0"/>
              <a:t>버튼을 클릭한다</a:t>
            </a:r>
            <a:r>
              <a:rPr lang="en-US" altLang="ko-KR" sz="1300" dirty="0"/>
              <a:t>.</a:t>
            </a:r>
          </a:p>
          <a:p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11560" y="1556792"/>
            <a:ext cx="64807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2132856"/>
            <a:ext cx="6000750" cy="4725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직선 화살표 연결선 6"/>
          <p:cNvCxnSpPr/>
          <p:nvPr/>
        </p:nvCxnSpPr>
        <p:spPr>
          <a:xfrm flipH="1">
            <a:off x="4355976" y="1556792"/>
            <a:ext cx="556704" cy="1368152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44208" y="2564904"/>
            <a:ext cx="280147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그런데</a:t>
            </a:r>
            <a:r>
              <a:rPr lang="en-US" altLang="ko-KR" b="1" dirty="0" smtClean="0"/>
              <a:t>!!</a:t>
            </a:r>
          </a:p>
          <a:p>
            <a:r>
              <a:rPr lang="ko-KR" altLang="en-US" b="1" dirty="0" smtClean="0"/>
              <a:t>만약</a:t>
            </a:r>
            <a:r>
              <a:rPr lang="en-US" altLang="ko-KR" b="1" dirty="0" smtClean="0"/>
              <a:t>, </a:t>
            </a:r>
            <a:r>
              <a:rPr lang="en-US" altLang="ko-KR" b="1" dirty="0" err="1" smtClean="0"/>
              <a:t>Installtions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내</a:t>
            </a:r>
            <a:endParaRPr lang="en-US" altLang="ko-KR" b="1" dirty="0" smtClean="0"/>
          </a:p>
          <a:p>
            <a:r>
              <a:rPr lang="en-US" altLang="ko-KR" b="1" dirty="0" smtClean="0"/>
              <a:t>User Setting</a:t>
            </a:r>
            <a:r>
              <a:rPr lang="ko-KR" altLang="en-US" b="1" dirty="0" smtClean="0"/>
              <a:t>이 없다면</a:t>
            </a:r>
            <a:endParaRPr lang="en-US" altLang="ko-KR" b="1" dirty="0" smtClean="0"/>
          </a:p>
          <a:p>
            <a:r>
              <a:rPr lang="en-US" altLang="ko-KR" b="1" dirty="0" err="1" smtClean="0"/>
              <a:t>Mavean</a:t>
            </a:r>
            <a:r>
              <a:rPr lang="en-US" altLang="ko-KR" b="1" dirty="0" smtClean="0"/>
              <a:t>&gt;User Setting</a:t>
            </a:r>
            <a:r>
              <a:rPr lang="ko-KR" altLang="en-US" b="1" dirty="0" smtClean="0"/>
              <a:t>탭</a:t>
            </a:r>
            <a:endParaRPr lang="en-US" altLang="ko-KR" b="1" dirty="0" smtClean="0"/>
          </a:p>
          <a:p>
            <a:r>
              <a:rPr lang="ko-KR" altLang="en-US" b="1" dirty="0" err="1" smtClean="0"/>
              <a:t>으로</a:t>
            </a:r>
            <a:r>
              <a:rPr lang="ko-KR" altLang="en-US" b="1" dirty="0" smtClean="0"/>
              <a:t> 가면 볼 수 있다</a:t>
            </a:r>
            <a:r>
              <a:rPr lang="en-US" altLang="ko-KR" b="1" dirty="0" smtClean="0"/>
              <a:t>.</a:t>
            </a:r>
          </a:p>
          <a:p>
            <a:endParaRPr lang="en-US" altLang="ko-KR" b="1" dirty="0"/>
          </a:p>
          <a:p>
            <a:r>
              <a:rPr lang="ko-KR" altLang="en-US" b="1" dirty="0" smtClean="0"/>
              <a:t>아마도 업그레이드 또는</a:t>
            </a:r>
            <a:endParaRPr lang="en-US" altLang="ko-KR" b="1" dirty="0" smtClean="0"/>
          </a:p>
          <a:p>
            <a:r>
              <a:rPr lang="ko-KR" altLang="en-US" b="1" dirty="0" smtClean="0"/>
              <a:t>사용자를 고려하여 다른</a:t>
            </a:r>
            <a:endParaRPr lang="en-US" altLang="ko-KR" b="1" dirty="0" smtClean="0"/>
          </a:p>
          <a:p>
            <a:r>
              <a:rPr lang="ko-KR" altLang="en-US" b="1" dirty="0" smtClean="0"/>
              <a:t>탭으로 이동 된 것 같다</a:t>
            </a:r>
            <a:r>
              <a:rPr lang="en-US" altLang="ko-KR" b="1" dirty="0" smtClean="0"/>
              <a:t>.</a:t>
            </a:r>
            <a:endParaRPr lang="ko-KR" altLang="en-US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>
            <a:off x="36512" y="3717032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590403" y="2060847"/>
            <a:ext cx="652120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600" b="1" dirty="0" smtClean="0"/>
              <a:t>STEP2. </a:t>
            </a:r>
            <a:r>
              <a:rPr lang="ko-KR" altLang="en-US" sz="3600" b="1" dirty="0" smtClean="0"/>
              <a:t>프로젝트 생성 및 실행</a:t>
            </a:r>
            <a:endParaRPr lang="en-US" altLang="ko-KR" sz="3600" b="1" dirty="0" smtClean="0"/>
          </a:p>
          <a:p>
            <a:r>
              <a:rPr lang="en-US" altLang="ko-KR" sz="2400" b="1" dirty="0" smtClean="0"/>
              <a:t>                -(Maven </a:t>
            </a:r>
            <a:r>
              <a:rPr lang="ko-KR" altLang="en-US" sz="2400" b="1" dirty="0" smtClean="0"/>
              <a:t>테스트 및 실행</a:t>
            </a:r>
            <a:r>
              <a:rPr lang="en-US" altLang="ko-KR" sz="2400" b="1" dirty="0" smtClean="0"/>
              <a:t>) </a:t>
            </a:r>
            <a:r>
              <a:rPr lang="ko-KR" altLang="en-US" sz="2400" b="1" dirty="0" smtClean="0"/>
              <a:t>편</a:t>
            </a:r>
            <a:r>
              <a:rPr lang="en-US" altLang="ko-KR" sz="2400" b="1" dirty="0" smtClean="0"/>
              <a:t>-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xmlns="" val="9844297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구현도구에서 File&gt;Import.. 메뉴를 선택">
            <a:hlinkClick r:id="rId2" tooltip="egovframework:dev:프로젝트_반입.png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38300"/>
            <a:ext cx="7620000" cy="521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0" y="44624"/>
            <a:ext cx="651621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/>
              <a:t>프로젝트 </a:t>
            </a:r>
            <a:r>
              <a:rPr lang="ko-KR" altLang="en-US" b="1" dirty="0" smtClean="0"/>
              <a:t>생성순서</a:t>
            </a:r>
            <a:endParaRPr lang="en-US" altLang="ko-KR" b="1" dirty="0" smtClean="0"/>
          </a:p>
          <a:p>
            <a:endParaRPr lang="ko-KR" altLang="en-US" b="1" dirty="0"/>
          </a:p>
          <a:p>
            <a:r>
              <a:rPr lang="en-US" altLang="ko-KR" dirty="0" smtClean="0"/>
              <a:t>1. </a:t>
            </a:r>
            <a:r>
              <a:rPr lang="ko-KR" altLang="en-US" dirty="0" smtClean="0"/>
              <a:t>홈페이지에서 제공하는 </a:t>
            </a:r>
            <a:r>
              <a:rPr lang="en-US" altLang="ko-KR" dirty="0" err="1" smtClean="0"/>
              <a:t>Helloworld</a:t>
            </a:r>
            <a:r>
              <a:rPr lang="en-US" altLang="ko-KR" dirty="0" smtClean="0"/>
              <a:t> </a:t>
            </a:r>
            <a:r>
              <a:rPr lang="ko-KR" altLang="en-US" dirty="0" smtClean="0"/>
              <a:t>프로젝트 파일을 </a:t>
            </a:r>
            <a:r>
              <a:rPr lang="ko-KR" altLang="en-US" dirty="0"/>
              <a:t>다운로드 받아서 임의의 </a:t>
            </a:r>
            <a:r>
              <a:rPr lang="ko-KR" altLang="en-US" dirty="0" err="1"/>
              <a:t>디렉토리에</a:t>
            </a:r>
            <a:r>
              <a:rPr lang="ko-KR" altLang="en-US" dirty="0"/>
              <a:t> 저장한다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smtClean="0"/>
              <a:t>구현도구에서 </a:t>
            </a:r>
            <a:r>
              <a:rPr lang="en-US" altLang="ko-KR" dirty="0"/>
              <a:t>File&gt;Import.. </a:t>
            </a:r>
            <a:r>
              <a:rPr lang="ko-KR" altLang="en-US" dirty="0"/>
              <a:t>메뉴를 선택한다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3046303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504" y="188640"/>
            <a:ext cx="59766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3.Import </a:t>
            </a:r>
            <a:r>
              <a:rPr lang="en-US" altLang="ko-KR" dirty="0"/>
              <a:t>wizard</a:t>
            </a:r>
            <a:r>
              <a:rPr lang="ko-KR" altLang="en-US" dirty="0"/>
              <a:t>에서 </a:t>
            </a:r>
            <a:r>
              <a:rPr lang="en-US" altLang="ko-KR" dirty="0"/>
              <a:t>General&gt;Existing Projects into Workspace </a:t>
            </a:r>
            <a:r>
              <a:rPr lang="ko-KR" altLang="en-US" dirty="0"/>
              <a:t>를 선택한다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smtClean="0"/>
              <a:t>4. next </a:t>
            </a:r>
            <a:r>
              <a:rPr lang="ko-KR" altLang="en-US" dirty="0"/>
              <a:t>버튼을 클릭한다</a:t>
            </a:r>
            <a:r>
              <a:rPr lang="en-US" altLang="ko-KR" dirty="0"/>
              <a:t>.</a:t>
            </a:r>
          </a:p>
        </p:txBody>
      </p:sp>
      <p:pic>
        <p:nvPicPr>
          <p:cNvPr id="5122" name="Picture 2" descr="Import wizard에서 General&gt;Existing Projects into Workspace 를 선택후 next 버튼을 클릭">
            <a:hlinkClick r:id="rId2" tooltip="egovframework:dev:프로젝트_반입_1.png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" y="1388968"/>
            <a:ext cx="4139952" cy="5469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4499992" y="1442675"/>
            <a:ext cx="464400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5. Import </a:t>
            </a:r>
            <a:r>
              <a:rPr lang="en-US" altLang="ko-KR" dirty="0"/>
              <a:t>Projects</a:t>
            </a:r>
            <a:r>
              <a:rPr lang="ko-KR" altLang="en-US" dirty="0"/>
              <a:t>에서 </a:t>
            </a:r>
            <a:r>
              <a:rPr lang="en-US" altLang="ko-KR" dirty="0"/>
              <a:t>select archive file </a:t>
            </a:r>
            <a:r>
              <a:rPr lang="ko-KR" altLang="en-US" dirty="0"/>
              <a:t>항목을 선택하고 </a:t>
            </a:r>
            <a:r>
              <a:rPr lang="ko-KR" altLang="en-US" dirty="0" smtClean="0"/>
              <a:t>제공한</a:t>
            </a:r>
            <a:r>
              <a:rPr lang="en-US" altLang="ko-KR" dirty="0" smtClean="0"/>
              <a:t>egovGettingStarted.zip </a:t>
            </a:r>
          </a:p>
          <a:p>
            <a:r>
              <a:rPr lang="ko-KR" altLang="en-US" dirty="0" smtClean="0"/>
              <a:t>파일을 </a:t>
            </a:r>
            <a:r>
              <a:rPr lang="ko-KR" altLang="en-US" dirty="0"/>
              <a:t>지정한다</a:t>
            </a:r>
            <a:r>
              <a:rPr lang="en-US" altLang="ko-KR" dirty="0"/>
              <a:t>.</a:t>
            </a:r>
          </a:p>
          <a:p>
            <a:r>
              <a:rPr lang="en-US" altLang="ko-KR" dirty="0" smtClean="0"/>
              <a:t>6. Finish </a:t>
            </a:r>
            <a:r>
              <a:rPr lang="ko-KR" altLang="en-US" dirty="0"/>
              <a:t>버튼을 클릭한다</a:t>
            </a:r>
            <a:r>
              <a:rPr lang="en-US" altLang="ko-KR" dirty="0"/>
              <a:t>.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00984" y="2934066"/>
            <a:ext cx="4199756" cy="3950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7812360" y="3645024"/>
            <a:ext cx="792088" cy="144016"/>
          </a:xfrm>
          <a:prstGeom prst="rect">
            <a:avLst/>
          </a:prstGeom>
          <a:noFill/>
          <a:ln>
            <a:solidFill>
              <a:srgbClr val="C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7020272" y="6597352"/>
            <a:ext cx="792088" cy="144016"/>
          </a:xfrm>
          <a:prstGeom prst="rect">
            <a:avLst/>
          </a:prstGeom>
          <a:noFill/>
          <a:ln>
            <a:solidFill>
              <a:srgbClr val="C2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7676619" y="317632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①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64288" y="623731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②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481832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124744"/>
            <a:ext cx="8999984" cy="5733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2893492" y="2708920"/>
            <a:ext cx="61064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smtClean="0"/>
              <a:t>1. </a:t>
            </a:r>
            <a:r>
              <a:rPr lang="ko-KR" altLang="en-US" b="1" dirty="0" smtClean="0"/>
              <a:t>개발환경에서 </a:t>
            </a:r>
            <a:r>
              <a:rPr lang="en-US" altLang="ko-KR" b="1" dirty="0" err="1"/>
              <a:t>egovframework.guide</a:t>
            </a:r>
            <a:r>
              <a:rPr lang="en-US" altLang="ko-KR" b="1" dirty="0"/>
              <a:t> </a:t>
            </a:r>
            <a:r>
              <a:rPr lang="ko-KR" altLang="en-US" b="1" dirty="0"/>
              <a:t>프로젝트를 마우스 오른쪽 버튼으로 클릭하고 </a:t>
            </a:r>
            <a:r>
              <a:rPr lang="en-US" altLang="ko-KR" b="1" dirty="0"/>
              <a:t>Run As&gt;Maven Build</a:t>
            </a:r>
            <a:r>
              <a:rPr lang="ko-KR" altLang="en-US" b="1" dirty="0"/>
              <a:t>를 클릭한다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79512" y="260648"/>
            <a:ext cx="21948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프로젝트 </a:t>
            </a:r>
            <a:r>
              <a:rPr lang="ko-KR" altLang="en-US" b="1" dirty="0" smtClean="0"/>
              <a:t>실행 순서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xmlns="" val="3730477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Run 버튼을 클릭">
            <a:hlinkClick r:id="rId2" tooltip="egovframework:dev:메이븐_빌드_수행2.png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2676" y="918012"/>
            <a:ext cx="3744416" cy="250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412676" y="548680"/>
            <a:ext cx="2630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2. Run </a:t>
            </a:r>
            <a:r>
              <a:rPr lang="ko-KR" altLang="en-US" dirty="0"/>
              <a:t>버튼을 클릭한다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559672" y="34290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err="1" smtClean="0"/>
              <a:t>콘솔창에서</a:t>
            </a:r>
            <a:r>
              <a:rPr lang="ko-KR" altLang="en-US" dirty="0" smtClean="0"/>
              <a:t> </a:t>
            </a:r>
            <a:r>
              <a:rPr lang="en-US" altLang="ko-KR" dirty="0"/>
              <a:t>Maven </a:t>
            </a:r>
            <a:r>
              <a:rPr lang="ko-KR" altLang="en-US" dirty="0" err="1"/>
              <a:t>빌드의</a:t>
            </a:r>
            <a:r>
              <a:rPr lang="ko-KR" altLang="en-US" dirty="0"/>
              <a:t> 결과를 확인하다</a:t>
            </a:r>
            <a:r>
              <a:rPr lang="en-US" altLang="ko-KR" dirty="0"/>
              <a:t>. </a:t>
            </a:r>
            <a:r>
              <a:rPr lang="ko-KR" altLang="en-US" dirty="0" err="1"/>
              <a:t>메이븐</a:t>
            </a:r>
            <a:r>
              <a:rPr lang="ko-KR" altLang="en-US" dirty="0"/>
              <a:t> </a:t>
            </a:r>
            <a:r>
              <a:rPr lang="ko-KR" altLang="en-US" dirty="0" err="1"/>
              <a:t>빌드는</a:t>
            </a:r>
            <a:r>
              <a:rPr lang="ko-KR" altLang="en-US" dirty="0"/>
              <a:t> 프로젝트의 컴파일</a:t>
            </a:r>
            <a:r>
              <a:rPr lang="en-US" altLang="ko-KR" dirty="0"/>
              <a:t>, </a:t>
            </a:r>
            <a:r>
              <a:rPr lang="ko-KR" altLang="en-US" dirty="0"/>
              <a:t>테스트</a:t>
            </a:r>
            <a:r>
              <a:rPr lang="en-US" altLang="ko-KR" dirty="0"/>
              <a:t>, </a:t>
            </a:r>
            <a:r>
              <a:rPr lang="ko-KR" altLang="en-US" dirty="0" err="1"/>
              <a:t>패키징을</a:t>
            </a:r>
            <a:r>
              <a:rPr lang="ko-KR" altLang="en-US" dirty="0"/>
              <a:t> 모두 수행하고 그 결과를 제공한다</a:t>
            </a:r>
          </a:p>
        </p:txBody>
      </p:sp>
      <p:cxnSp>
        <p:nvCxnSpPr>
          <p:cNvPr id="9" name="구부러진 연결선 8"/>
          <p:cNvCxnSpPr/>
          <p:nvPr/>
        </p:nvCxnSpPr>
        <p:spPr>
          <a:xfrm rot="16200000" flipH="1">
            <a:off x="3884000" y="1173964"/>
            <a:ext cx="2366972" cy="1855068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563888" y="4746963"/>
            <a:ext cx="5544616" cy="211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417886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36512" y="3717032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1590403" y="2060847"/>
            <a:ext cx="643798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600" b="1" dirty="0" smtClean="0"/>
              <a:t>STEP3. </a:t>
            </a:r>
            <a:r>
              <a:rPr lang="ko-KR" altLang="en-US" sz="3600" b="1" dirty="0" smtClean="0"/>
              <a:t>프로젝트 생성 및 실행</a:t>
            </a:r>
            <a:endParaRPr lang="en-US" altLang="ko-KR" sz="3600" b="1" dirty="0" smtClean="0"/>
          </a:p>
          <a:p>
            <a:r>
              <a:rPr lang="en-US" altLang="ko-KR" sz="2400" b="1" dirty="0" smtClean="0"/>
              <a:t>             -(</a:t>
            </a:r>
            <a:r>
              <a:rPr lang="en-US" altLang="ko-KR" sz="2400" b="1" dirty="0" err="1" smtClean="0"/>
              <a:t>Helloworld</a:t>
            </a:r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테스트 및 실행</a:t>
            </a:r>
            <a:r>
              <a:rPr lang="en-US" altLang="ko-KR" sz="2400" b="1" dirty="0" smtClean="0"/>
              <a:t>) </a:t>
            </a:r>
            <a:r>
              <a:rPr lang="ko-KR" altLang="en-US" sz="2400" b="1" dirty="0" smtClean="0"/>
              <a:t>편</a:t>
            </a:r>
            <a:r>
              <a:rPr lang="en-US" altLang="ko-KR" sz="2400" b="1" dirty="0" smtClean="0"/>
              <a:t>-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xmlns="" val="40172191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79512" y="260648"/>
            <a:ext cx="597666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err="1"/>
              <a:t>HelloWorld</a:t>
            </a:r>
            <a:r>
              <a:rPr lang="en-US" altLang="ko-KR" b="1" dirty="0"/>
              <a:t> </a:t>
            </a:r>
            <a:r>
              <a:rPr lang="ko-KR" altLang="en-US" b="1" dirty="0"/>
              <a:t>실행순서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1. </a:t>
            </a:r>
            <a:r>
              <a:rPr lang="ko-KR" altLang="en-US" dirty="0" smtClean="0"/>
              <a:t>프로젝트의 </a:t>
            </a:r>
            <a:r>
              <a:rPr lang="en-US" altLang="ko-KR" dirty="0" err="1"/>
              <a:t>src</a:t>
            </a:r>
            <a:r>
              <a:rPr lang="en-US" altLang="ko-KR" dirty="0"/>
              <a:t>/main/java</a:t>
            </a:r>
            <a:r>
              <a:rPr lang="ko-KR" altLang="en-US" dirty="0"/>
              <a:t>에서 </a:t>
            </a:r>
            <a:r>
              <a:rPr lang="en-US" altLang="ko-KR" dirty="0"/>
              <a:t>HelloWorldClient.java</a:t>
            </a:r>
            <a:r>
              <a:rPr lang="ko-KR" altLang="en-US" dirty="0"/>
              <a:t>를 마우스 오른쪽 버튼으로 클릭하고 </a:t>
            </a:r>
            <a:r>
              <a:rPr lang="en-US" altLang="ko-KR" dirty="0"/>
              <a:t>Run As&gt;Java Application </a:t>
            </a:r>
            <a:r>
              <a:rPr lang="ko-KR" altLang="en-US" dirty="0"/>
              <a:t>을 클릭한다</a:t>
            </a:r>
            <a:r>
              <a:rPr lang="en-US" altLang="ko-KR" dirty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737976"/>
            <a:ext cx="9144000" cy="5003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5799587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9248" y="827420"/>
            <a:ext cx="66784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2. Console</a:t>
            </a:r>
            <a:r>
              <a:rPr lang="ko-KR" altLang="en-US" dirty="0"/>
              <a:t>창에서 다음과 같은 실행 결과를 확인 할 수 있다</a:t>
            </a:r>
            <a:r>
              <a:rPr lang="en-US" altLang="ko-KR" dirty="0"/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7504" y="2715768"/>
            <a:ext cx="8640960" cy="41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461520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2008" y="2291973"/>
            <a:ext cx="8964488" cy="4566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0" y="0"/>
            <a:ext cx="622818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err="1"/>
              <a:t>HelloWorld</a:t>
            </a:r>
            <a:r>
              <a:rPr lang="en-US" altLang="ko-KR" b="1" dirty="0"/>
              <a:t> </a:t>
            </a:r>
            <a:r>
              <a:rPr lang="ko-KR" altLang="en-US" b="1" dirty="0"/>
              <a:t>테스트 실행순서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1.</a:t>
            </a:r>
            <a:r>
              <a:rPr lang="ko-KR" altLang="en-US" dirty="0" smtClean="0"/>
              <a:t>프로젝트의 </a:t>
            </a:r>
            <a:r>
              <a:rPr lang="en-US" altLang="ko-KR" dirty="0" err="1"/>
              <a:t>src</a:t>
            </a:r>
            <a:r>
              <a:rPr lang="en-US" altLang="ko-KR" dirty="0"/>
              <a:t>/test/java</a:t>
            </a:r>
            <a:r>
              <a:rPr lang="ko-KR" altLang="en-US" dirty="0"/>
              <a:t>에서 </a:t>
            </a:r>
            <a:r>
              <a:rPr lang="en-US" altLang="ko-KR" dirty="0" err="1"/>
              <a:t>HelloWorld</a:t>
            </a:r>
            <a:r>
              <a:rPr lang="en-US" altLang="ko-KR" dirty="0"/>
              <a:t> </a:t>
            </a:r>
            <a:r>
              <a:rPr lang="ko-KR" altLang="en-US" dirty="0"/>
              <a:t>서비스의 </a:t>
            </a:r>
            <a:r>
              <a:rPr lang="en-US" altLang="ko-KR" dirty="0" err="1"/>
              <a:t>junit</a:t>
            </a:r>
            <a:r>
              <a:rPr lang="en-US" altLang="ko-KR" dirty="0"/>
              <a:t> test case(HelloWorldServiceTest.java)</a:t>
            </a:r>
            <a:r>
              <a:rPr lang="ko-KR" altLang="en-US" dirty="0"/>
              <a:t>를 마우스 오른쪽 버튼으로 </a:t>
            </a:r>
            <a:r>
              <a:rPr lang="ko-KR" altLang="en-US" dirty="0" smtClean="0"/>
              <a:t>클릭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2.</a:t>
            </a:r>
            <a:r>
              <a:rPr lang="ko-KR" altLang="en-US" dirty="0" smtClean="0"/>
              <a:t> </a:t>
            </a:r>
            <a:r>
              <a:rPr lang="en-US" altLang="ko-KR" dirty="0"/>
              <a:t>Run As&gt;</a:t>
            </a:r>
            <a:r>
              <a:rPr lang="en-US" altLang="ko-KR" dirty="0" err="1"/>
              <a:t>Junit</a:t>
            </a:r>
            <a:r>
              <a:rPr lang="en-US" altLang="ko-KR" dirty="0"/>
              <a:t> test </a:t>
            </a:r>
            <a:r>
              <a:rPr lang="ko-KR" altLang="en-US" dirty="0"/>
              <a:t>을 클릭한다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42508969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JUnit 결과창에서 다음과 같이 테스트(testSayHello)의 수행시간 및 성공여부를 확인">
            <a:hlinkClick r:id="rId2" tooltip="egovframework:dev:junit_테스트_결과.png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1556792"/>
            <a:ext cx="8928992" cy="3096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0" y="980728"/>
            <a:ext cx="9144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/>
              <a:t>2. </a:t>
            </a:r>
            <a:r>
              <a:rPr lang="en-US" altLang="ko-KR" sz="1600" dirty="0" err="1" smtClean="0"/>
              <a:t>JUnit</a:t>
            </a:r>
            <a:r>
              <a:rPr lang="en-US" altLang="ko-KR" sz="1600" dirty="0" smtClean="0"/>
              <a:t> </a:t>
            </a:r>
            <a:r>
              <a:rPr lang="ko-KR" altLang="en-US" sz="1600" dirty="0" err="1"/>
              <a:t>결과창에서</a:t>
            </a:r>
            <a:r>
              <a:rPr lang="ko-KR" altLang="en-US" sz="1600" dirty="0"/>
              <a:t> 다음과 같이 테스트</a:t>
            </a:r>
            <a:r>
              <a:rPr lang="en-US" altLang="ko-KR" sz="1600" dirty="0"/>
              <a:t>(</a:t>
            </a:r>
            <a:r>
              <a:rPr lang="en-US" altLang="ko-KR" sz="1600" dirty="0" err="1"/>
              <a:t>testSayHello</a:t>
            </a:r>
            <a:r>
              <a:rPr lang="en-US" altLang="ko-KR" sz="1600" dirty="0"/>
              <a:t>)</a:t>
            </a:r>
            <a:r>
              <a:rPr lang="ko-KR" altLang="en-US" sz="1600" dirty="0"/>
              <a:t>의 수행시간 및 성공여부를 확인 할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40640540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15816" y="2204864"/>
            <a:ext cx="366478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600" dirty="0" smtClean="0">
                <a:solidFill>
                  <a:srgbClr val="00B0F0"/>
                </a:solidFill>
              </a:rPr>
              <a:t>T</a:t>
            </a:r>
            <a:r>
              <a:rPr lang="en-US" altLang="ko-KR" sz="4800" dirty="0" smtClean="0"/>
              <a:t>hanks </a:t>
            </a:r>
            <a:r>
              <a:rPr lang="en-US" altLang="ko-KR" sz="6600" dirty="0" smtClean="0">
                <a:solidFill>
                  <a:srgbClr val="00B0F0"/>
                </a:solidFill>
              </a:rPr>
              <a:t>Y</a:t>
            </a:r>
            <a:r>
              <a:rPr lang="en-US" altLang="ko-KR" sz="4800" dirty="0" smtClean="0"/>
              <a:t>ou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xmlns="" val="269671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788</Words>
  <Application>Microsoft Office PowerPoint</Application>
  <PresentationFormat>화면 슬라이드 쇼(4:3)</PresentationFormat>
  <Paragraphs>135</Paragraphs>
  <Slides>35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6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종속라이브러리 설치순서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mis_lab</dc:creator>
  <cp:lastModifiedBy>HOME</cp:lastModifiedBy>
  <cp:revision>38</cp:revision>
  <dcterms:created xsi:type="dcterms:W3CDTF">2013-03-26T06:48:55Z</dcterms:created>
  <dcterms:modified xsi:type="dcterms:W3CDTF">2015-02-02T08:17:22Z</dcterms:modified>
</cp:coreProperties>
</file>